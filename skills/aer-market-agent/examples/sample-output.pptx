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er.gov.au/industry/registers/resources/reviews/default-market-offer-2026-27" TargetMode="External"/><Relationship Id="rId3" Type="http://schemas.openxmlformats.org/officeDocument/2006/relationships/hyperlink" Target="https://www.aer.gov.au/industry/registers/determinations" TargetMode="External"/><Relationship Id="rId4" Type="http://schemas.openxmlformats.org/officeDocument/2006/relationships/hyperlink" Target="https://www.aer.gov.au/industry/registers/determinations/sa-power-networks-determination-2025-30/final-decision" TargetMode="External"/><Relationship Id="rId5" Type="http://schemas.openxmlformats.org/officeDocument/2006/relationships/hyperlink" Target="https://www.aemo.com.au/energy-systems/major-publications/integrated-system-plan-isp/2024-integrated-system-plan-isp" TargetMode="External"/><Relationship Id="rId6" Type="http://schemas.openxmlformats.org/officeDocument/2006/relationships/hyperlink" Target="https://www.aer.gov.au/industry/registers/charts/seasonal-peak-demand-nem" TargetMode="External"/><Relationship Id="rId7" Type="http://schemas.openxmlformats.org/officeDocument/2006/relationships/hyperlink" Target="https://www.ato.gov.au/tax-rates-and-codes/consumer-price-index" TargetMode="External"/><Relationship Id="rId8" Type="http://schemas.openxmlformats.org/officeDocument/2006/relationships/hyperlink" Target="https://www.aer.gov.au/publications/reports/performance/state-energy-market-2025"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868680"/>
            <a:ext cx="10058400" cy="274320"/>
          </a:xfrm>
          <a:prstGeom prst="rect">
            <a:avLst/>
          </a:prstGeom>
          <a:noFill/>
        </p:spPr>
        <p:txBody>
          <a:bodyPr wrap="square" lIns="0" rIns="0" tIns="0" bIns="0">
            <a:spAutoFit/>
          </a:bodyPr>
          <a:lstStyle/>
          <a:p>
            <a:pPr algn="l"/>
            <a:r>
              <a:rPr sz="1100" b="1" i="0">
                <a:solidFill>
                  <a:srgbClr val="00C2A8"/>
                </a:solidFill>
                <a:latin typeface="Calibri"/>
              </a:rPr>
              <a:t>RENOVARA  -  AUSTRALIAN ENERGY MARKET ANALYSIS</a:t>
            </a:r>
          </a:p>
        </p:txBody>
      </p:sp>
      <p:sp>
        <p:nvSpPr>
          <p:cNvPr id="5" name="TextBox 4"/>
          <p:cNvSpPr txBox="1"/>
          <p:nvPr/>
        </p:nvSpPr>
        <p:spPr>
          <a:xfrm>
            <a:off x="868680" y="1554480"/>
            <a:ext cx="10515600" cy="1828800"/>
          </a:xfrm>
          <a:prstGeom prst="rect">
            <a:avLst/>
          </a:prstGeom>
          <a:noFill/>
        </p:spPr>
        <p:txBody>
          <a:bodyPr wrap="square" lIns="0" rIns="0" tIns="0" bIns="0">
            <a:spAutoFit/>
          </a:bodyPr>
          <a:lstStyle/>
          <a:p>
            <a:pPr algn="l">
              <a:lnSpc>
                <a:spcPct val="100000"/>
              </a:lnSpc>
            </a:pPr>
            <a:r>
              <a:rPr sz="5600" b="0" i="0">
                <a:solidFill>
                  <a:srgbClr val="FFFFFF"/>
                </a:solidFill>
                <a:latin typeface="Calibri Light"/>
              </a:rPr>
              <a:t>Where your power dollar goes</a:t>
            </a:r>
          </a:p>
        </p:txBody>
      </p:sp>
      <p:sp>
        <p:nvSpPr>
          <p:cNvPr id="6" name="TextBox 5"/>
          <p:cNvSpPr txBox="1"/>
          <p:nvPr/>
        </p:nvSpPr>
        <p:spPr>
          <a:xfrm>
            <a:off x="886968" y="3566160"/>
            <a:ext cx="10058400" cy="548640"/>
          </a:xfrm>
          <a:prstGeom prst="rect">
            <a:avLst/>
          </a:prstGeom>
          <a:noFill/>
        </p:spPr>
        <p:txBody>
          <a:bodyPr wrap="square" lIns="0" rIns="0" tIns="0" bIns="0">
            <a:spAutoFit/>
          </a:bodyPr>
          <a:lstStyle/>
          <a:p>
            <a:pPr algn="l"/>
            <a:r>
              <a:rPr sz="2200" b="0" i="0">
                <a:solidFill>
                  <a:srgbClr val="D9DEE7"/>
                </a:solidFill>
                <a:latin typeface="Calibri"/>
              </a:rPr>
              <a:t>Seven years of Australia's Default Market Offer, decomposed</a:t>
            </a:r>
          </a:p>
        </p:txBody>
      </p:sp>
      <p:sp>
        <p:nvSpPr>
          <p:cNvPr id="7" name="TextBox 6"/>
          <p:cNvSpPr txBox="1"/>
          <p:nvPr/>
        </p:nvSpPr>
        <p:spPr>
          <a:xfrm>
            <a:off x="886968" y="4297680"/>
            <a:ext cx="10515600" cy="365760"/>
          </a:xfrm>
          <a:prstGeom prst="rect">
            <a:avLst/>
          </a:prstGeom>
          <a:noFill/>
        </p:spPr>
        <p:txBody>
          <a:bodyPr wrap="square" lIns="0" rIns="0" tIns="0" bIns="0">
            <a:spAutoFit/>
          </a:bodyPr>
          <a:lstStyle/>
          <a:p>
            <a:pPr algn="l"/>
            <a:r>
              <a:rPr sz="1500" b="0" i="0">
                <a:solidFill>
                  <a:srgbClr val="B8C4DA"/>
                </a:solidFill>
                <a:latin typeface="Calibri"/>
              </a:rPr>
              <a:t>NSW   -   South-East QLD   -   South Australia        DMO 1-8   -   2019-2027</a:t>
            </a:r>
          </a:p>
        </p:txBody>
      </p:sp>
      <p:sp>
        <p:nvSpPr>
          <p:cNvPr id="8" name="TextBox 7"/>
          <p:cNvSpPr txBox="1"/>
          <p:nvPr/>
        </p:nvSpPr>
        <p:spPr>
          <a:xfrm>
            <a:off x="868680" y="6400800"/>
            <a:ext cx="10058400" cy="274320"/>
          </a:xfrm>
          <a:prstGeom prst="rect">
            <a:avLst/>
          </a:prstGeom>
          <a:noFill/>
        </p:spPr>
        <p:txBody>
          <a:bodyPr wrap="square" lIns="0" rIns="0" tIns="0" bIns="0">
            <a:spAutoFit/>
          </a:bodyPr>
          <a:lstStyle/>
          <a:p>
            <a:pPr algn="l"/>
            <a:r>
              <a:rPr sz="1000" b="0" i="1">
                <a:solidFill>
                  <a:srgbClr val="B8C4DA"/>
                </a:solidFill>
                <a:latin typeface="Calibri"/>
              </a:rPr>
              <a:t>Source: AER final determinations 2019-20 to 2026-27 (aer.gov.au)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THE BASICS</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A safety net - and the market's yardstick</a:t>
            </a:r>
          </a:p>
        </p:txBody>
      </p:sp>
      <p:sp>
        <p:nvSpPr>
          <p:cNvPr id="6" name="Oval 5"/>
          <p:cNvSpPr/>
          <p:nvPr/>
        </p:nvSpPr>
        <p:spPr>
          <a:xfrm>
            <a:off x="868680" y="1965960"/>
            <a:ext cx="457200" cy="457200"/>
          </a:xfrm>
          <a:prstGeom prst="ellipse">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1920240"/>
            <a:ext cx="9601200" cy="365760"/>
          </a:xfrm>
          <a:prstGeom prst="rect">
            <a:avLst/>
          </a:prstGeom>
          <a:noFill/>
        </p:spPr>
        <p:txBody>
          <a:bodyPr wrap="square" lIns="0" rIns="0" tIns="0" bIns="0">
            <a:spAutoFit/>
          </a:bodyPr>
          <a:lstStyle/>
          <a:p>
            <a:pPr algn="l"/>
            <a:r>
              <a:rPr sz="1700" b="1" i="0">
                <a:solidFill>
                  <a:srgbClr val="0A1F44"/>
                </a:solidFill>
                <a:latin typeface="Calibri"/>
              </a:rPr>
              <a:t>A price cap</a:t>
            </a:r>
          </a:p>
        </p:txBody>
      </p:sp>
      <p:sp>
        <p:nvSpPr>
          <p:cNvPr id="8" name="TextBox 7"/>
          <p:cNvSpPr txBox="1"/>
          <p:nvPr/>
        </p:nvSpPr>
        <p:spPr>
          <a:xfrm>
            <a:off x="1554480" y="2350008"/>
            <a:ext cx="9692640" cy="548640"/>
          </a:xfrm>
          <a:prstGeom prst="rect">
            <a:avLst/>
          </a:prstGeom>
          <a:noFill/>
        </p:spPr>
        <p:txBody>
          <a:bodyPr wrap="square" lIns="0" rIns="0" tIns="0" bIns="0">
            <a:spAutoFit/>
          </a:bodyPr>
          <a:lstStyle/>
          <a:p>
            <a:pPr algn="l"/>
            <a:r>
              <a:rPr sz="1350" b="0" i="0">
                <a:solidFill>
                  <a:srgbClr val="5B6378"/>
                </a:solidFill>
                <a:latin typeface="Calibri"/>
              </a:rPr>
              <a:t>The most a retailer can charge someone who never switched — a 'standing offer' customer.</a:t>
            </a:r>
          </a:p>
        </p:txBody>
      </p:sp>
      <p:sp>
        <p:nvSpPr>
          <p:cNvPr id="9" name="Oval 8"/>
          <p:cNvSpPr/>
          <p:nvPr/>
        </p:nvSpPr>
        <p:spPr>
          <a:xfrm>
            <a:off x="868680" y="3044952"/>
            <a:ext cx="457200" cy="457200"/>
          </a:xfrm>
          <a:prstGeom prst="ellipse">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2999232"/>
            <a:ext cx="9601200" cy="365760"/>
          </a:xfrm>
          <a:prstGeom prst="rect">
            <a:avLst/>
          </a:prstGeom>
          <a:noFill/>
        </p:spPr>
        <p:txBody>
          <a:bodyPr wrap="square" lIns="0" rIns="0" tIns="0" bIns="0">
            <a:spAutoFit/>
          </a:bodyPr>
          <a:lstStyle/>
          <a:p>
            <a:pPr algn="l"/>
            <a:r>
              <a:rPr sz="1700" b="1" i="0">
                <a:solidFill>
                  <a:srgbClr val="0A1F44"/>
                </a:solidFill>
                <a:latin typeface="Calibri"/>
              </a:rPr>
              <a:t>A reference price</a:t>
            </a:r>
          </a:p>
        </p:txBody>
      </p:sp>
      <p:sp>
        <p:nvSpPr>
          <p:cNvPr id="11" name="TextBox 10"/>
          <p:cNvSpPr txBox="1"/>
          <p:nvPr/>
        </p:nvSpPr>
        <p:spPr>
          <a:xfrm>
            <a:off x="1554480" y="3429000"/>
            <a:ext cx="9692640" cy="548640"/>
          </a:xfrm>
          <a:prstGeom prst="rect">
            <a:avLst/>
          </a:prstGeom>
          <a:noFill/>
        </p:spPr>
        <p:txBody>
          <a:bodyPr wrap="square" lIns="0" rIns="0" tIns="0" bIns="0">
            <a:spAutoFit/>
          </a:bodyPr>
          <a:lstStyle/>
          <a:p>
            <a:pPr algn="l"/>
            <a:r>
              <a:rPr sz="1350" b="0" i="0">
                <a:solidFill>
                  <a:srgbClr val="5B6378"/>
                </a:solidFill>
                <a:latin typeface="Calibri"/>
              </a:rPr>
              <a:t>Every market offer is advertised against it: '15% below the reference price'.</a:t>
            </a:r>
          </a:p>
        </p:txBody>
      </p:sp>
      <p:sp>
        <p:nvSpPr>
          <p:cNvPr id="12" name="Oval 11"/>
          <p:cNvSpPr/>
          <p:nvPr/>
        </p:nvSpPr>
        <p:spPr>
          <a:xfrm>
            <a:off x="868680" y="4123944"/>
            <a:ext cx="457200" cy="457200"/>
          </a:xfrm>
          <a:prstGeom prst="ellipse">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4078224"/>
            <a:ext cx="9601200" cy="365760"/>
          </a:xfrm>
          <a:prstGeom prst="rect">
            <a:avLst/>
          </a:prstGeom>
          <a:noFill/>
        </p:spPr>
        <p:txBody>
          <a:bodyPr wrap="square" lIns="0" rIns="0" tIns="0" bIns="0">
            <a:spAutoFit/>
          </a:bodyPr>
          <a:lstStyle/>
          <a:p>
            <a:pPr algn="l"/>
            <a:r>
              <a:rPr sz="1700" b="1" i="0">
                <a:solidFill>
                  <a:srgbClr val="0A1F44"/>
                </a:solidFill>
                <a:latin typeface="Calibri"/>
              </a:rPr>
              <a:t>Covers ~8% directly</a:t>
            </a:r>
          </a:p>
        </p:txBody>
      </p:sp>
      <p:sp>
        <p:nvSpPr>
          <p:cNvPr id="14" name="TextBox 13"/>
          <p:cNvSpPr txBox="1"/>
          <p:nvPr/>
        </p:nvSpPr>
        <p:spPr>
          <a:xfrm>
            <a:off x="1554480" y="4507992"/>
            <a:ext cx="9692640" cy="548640"/>
          </a:xfrm>
          <a:prstGeom prst="rect">
            <a:avLst/>
          </a:prstGeom>
          <a:noFill/>
        </p:spPr>
        <p:txBody>
          <a:bodyPr wrap="square" lIns="0" rIns="0" tIns="0" bIns="0">
            <a:spAutoFit/>
          </a:bodyPr>
          <a:lstStyle/>
          <a:p>
            <a:pPr algn="l"/>
            <a:r>
              <a:rPr sz="1350" b="0" i="0">
                <a:solidFill>
                  <a:srgbClr val="5B6378"/>
                </a:solidFill>
                <a:latin typeface="Calibri"/>
              </a:rPr>
              <a:t>Only about 1-in-12 households is on it — but it anchors how everyone's plan is priced.</a:t>
            </a:r>
          </a:p>
        </p:txBody>
      </p:sp>
      <p:sp>
        <p:nvSpPr>
          <p:cNvPr id="15" name="Oval 14"/>
          <p:cNvSpPr/>
          <p:nvPr/>
        </p:nvSpPr>
        <p:spPr>
          <a:xfrm>
            <a:off x="868680" y="5202936"/>
            <a:ext cx="457200" cy="457200"/>
          </a:xfrm>
          <a:prstGeom prst="ellipse">
            <a:avLst/>
          </a:prstGeom>
          <a:solidFill>
            <a:srgbClr val="5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5157216"/>
            <a:ext cx="9601200" cy="365760"/>
          </a:xfrm>
          <a:prstGeom prst="rect">
            <a:avLst/>
          </a:prstGeom>
          <a:noFill/>
        </p:spPr>
        <p:txBody>
          <a:bodyPr wrap="square" lIns="0" rIns="0" tIns="0" bIns="0">
            <a:spAutoFit/>
          </a:bodyPr>
          <a:lstStyle/>
          <a:p>
            <a:pPr algn="l"/>
            <a:r>
              <a:rPr sz="1700" b="1" i="0">
                <a:solidFill>
                  <a:srgbClr val="0A1F44"/>
                </a:solidFill>
                <a:latin typeface="Calibri"/>
              </a:rPr>
              <a:t>Reset every 1 July</a:t>
            </a:r>
          </a:p>
        </p:txBody>
      </p:sp>
      <p:sp>
        <p:nvSpPr>
          <p:cNvPr id="17" name="TextBox 16"/>
          <p:cNvSpPr txBox="1"/>
          <p:nvPr/>
        </p:nvSpPr>
        <p:spPr>
          <a:xfrm>
            <a:off x="1554480" y="5586983"/>
            <a:ext cx="9692640" cy="548640"/>
          </a:xfrm>
          <a:prstGeom prst="rect">
            <a:avLst/>
          </a:prstGeom>
          <a:noFill/>
        </p:spPr>
        <p:txBody>
          <a:bodyPr wrap="square" lIns="0" rIns="0" tIns="0" bIns="0">
            <a:spAutoFit/>
          </a:bodyPr>
          <a:lstStyle/>
          <a:p>
            <a:pPr algn="l"/>
            <a:r>
              <a:rPr sz="1350" b="0" i="0">
                <a:solidFill>
                  <a:srgbClr val="5B6378"/>
                </a:solidFill>
                <a:latin typeface="Calibri"/>
              </a:rPr>
              <a:t>The AER sets it yearly for NSW, SE QLD &amp; SA. Victoria runs its own (the VDO).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HOW THE NUMBERS ARE DERIVED</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How the AER builds a DMO bill</a:t>
            </a:r>
          </a:p>
        </p:txBody>
      </p:sp>
      <p:sp>
        <p:nvSpPr>
          <p:cNvPr id="6" name="TextBox 5"/>
          <p:cNvSpPr txBox="1"/>
          <p:nvPr/>
        </p:nvSpPr>
        <p:spPr>
          <a:xfrm>
            <a:off x="640080" y="1783080"/>
            <a:ext cx="6400800" cy="365760"/>
          </a:xfrm>
          <a:prstGeom prst="rect">
            <a:avLst/>
          </a:prstGeom>
          <a:noFill/>
        </p:spPr>
        <p:txBody>
          <a:bodyPr wrap="square" lIns="0" rIns="0" tIns="0" bIns="0">
            <a:spAutoFit/>
          </a:bodyPr>
          <a:lstStyle/>
          <a:p>
            <a:pPr algn="l"/>
            <a:r>
              <a:rPr sz="1350" b="0" i="1">
                <a:solidFill>
                  <a:srgbClr val="5B6378"/>
                </a:solidFill>
                <a:latin typeface="Calibri"/>
              </a:rPr>
              <a:t>The AER builds the price bottom-up for a model customer, then adds GST:</a:t>
            </a:r>
          </a:p>
        </p:txBody>
      </p:sp>
      <p:sp>
        <p:nvSpPr>
          <p:cNvPr id="7" name="Rectangle 6"/>
          <p:cNvSpPr/>
          <p:nvPr/>
        </p:nvSpPr>
        <p:spPr>
          <a:xfrm>
            <a:off x="640080" y="2368296"/>
            <a:ext cx="256032" cy="256032"/>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95144"/>
            <a:ext cx="6126480" cy="548640"/>
          </a:xfrm>
          <a:prstGeom prst="rect">
            <a:avLst/>
          </a:prstGeom>
          <a:noFill/>
        </p:spPr>
        <p:txBody>
          <a:bodyPr wrap="square" lIns="0" rIns="0" tIns="0" bIns="0" anchor="ctr">
            <a:spAutoFit/>
          </a:bodyPr>
          <a:lstStyle/>
          <a:p>
            <a:pPr algn="l"/>
            <a:r>
              <a:rPr sz="1250" b="0" i="0">
                <a:solidFill>
                  <a:srgbClr val="0A1F44"/>
                </a:solidFill>
                <a:latin typeface="Calibri"/>
              </a:rPr>
              <a:t>Network  -  AER-approved poles-and-wires tariffs</a:t>
            </a:r>
          </a:p>
        </p:txBody>
      </p:sp>
      <p:sp>
        <p:nvSpPr>
          <p:cNvPr id="9" name="Rectangle 8"/>
          <p:cNvSpPr/>
          <p:nvPr/>
        </p:nvSpPr>
        <p:spPr>
          <a:xfrm>
            <a:off x="640080" y="3118103"/>
            <a:ext cx="256032" cy="25603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044951"/>
            <a:ext cx="6126480" cy="548640"/>
          </a:xfrm>
          <a:prstGeom prst="rect">
            <a:avLst/>
          </a:prstGeom>
          <a:noFill/>
        </p:spPr>
        <p:txBody>
          <a:bodyPr wrap="square" lIns="0" rIns="0" tIns="0" bIns="0" anchor="ctr">
            <a:spAutoFit/>
          </a:bodyPr>
          <a:lstStyle/>
          <a:p>
            <a:pPr algn="l"/>
            <a:r>
              <a:rPr sz="1250" b="0" i="0">
                <a:solidFill>
                  <a:srgbClr val="0A1F44"/>
                </a:solidFill>
                <a:latin typeface="Calibri"/>
              </a:rPr>
              <a:t>Wholesale  -  ACIL Allen models the cost to hedge the load (futures + cap contracts)</a:t>
            </a:r>
          </a:p>
        </p:txBody>
      </p:sp>
      <p:sp>
        <p:nvSpPr>
          <p:cNvPr id="11" name="Rectangle 10"/>
          <p:cNvSpPr/>
          <p:nvPr/>
        </p:nvSpPr>
        <p:spPr>
          <a:xfrm>
            <a:off x="640080" y="3867911"/>
            <a:ext cx="256032" cy="25603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794759"/>
            <a:ext cx="6126480" cy="548640"/>
          </a:xfrm>
          <a:prstGeom prst="rect">
            <a:avLst/>
          </a:prstGeom>
          <a:noFill/>
        </p:spPr>
        <p:txBody>
          <a:bodyPr wrap="square" lIns="0" rIns="0" tIns="0" bIns="0" anchor="ctr">
            <a:spAutoFit/>
          </a:bodyPr>
          <a:lstStyle/>
          <a:p>
            <a:pPr algn="l"/>
            <a:r>
              <a:rPr sz="1250" b="0" i="0">
                <a:solidFill>
                  <a:srgbClr val="0A1F44"/>
                </a:solidFill>
                <a:latin typeface="Calibri"/>
              </a:rPr>
              <a:t>Environmental  -  Renewable Energy Target (certificates) plus state green schemes</a:t>
            </a:r>
          </a:p>
        </p:txBody>
      </p:sp>
      <p:sp>
        <p:nvSpPr>
          <p:cNvPr id="13" name="Rectangle 12"/>
          <p:cNvSpPr/>
          <p:nvPr/>
        </p:nvSpPr>
        <p:spPr>
          <a:xfrm>
            <a:off x="640080" y="4617720"/>
            <a:ext cx="256032" cy="256032"/>
          </a:xfrm>
          <a:prstGeom prst="rect">
            <a:avLst/>
          </a:prstGeom>
          <a:solidFill>
            <a:srgbClr val="5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544568"/>
            <a:ext cx="6126480" cy="548640"/>
          </a:xfrm>
          <a:prstGeom prst="rect">
            <a:avLst/>
          </a:prstGeom>
          <a:noFill/>
        </p:spPr>
        <p:txBody>
          <a:bodyPr wrap="square" lIns="0" rIns="0" tIns="0" bIns="0" anchor="ctr">
            <a:spAutoFit/>
          </a:bodyPr>
          <a:lstStyle/>
          <a:p>
            <a:pPr algn="l"/>
            <a:r>
              <a:rPr sz="1250" b="0" i="0">
                <a:solidFill>
                  <a:srgbClr val="0A1F44"/>
                </a:solidFill>
                <a:latin typeface="Calibri"/>
              </a:rPr>
              <a:t>Retail operating cost  -  Benchmark efficient cost to serve a customer</a:t>
            </a:r>
          </a:p>
        </p:txBody>
      </p:sp>
      <p:sp>
        <p:nvSpPr>
          <p:cNvPr id="15" name="Rectangle 14"/>
          <p:cNvSpPr/>
          <p:nvPr/>
        </p:nvSpPr>
        <p:spPr>
          <a:xfrm>
            <a:off x="640080" y="5367528"/>
            <a:ext cx="256032" cy="256032"/>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294376"/>
            <a:ext cx="6126480" cy="548640"/>
          </a:xfrm>
          <a:prstGeom prst="rect">
            <a:avLst/>
          </a:prstGeom>
          <a:noFill/>
        </p:spPr>
        <p:txBody>
          <a:bodyPr wrap="square" lIns="0" rIns="0" tIns="0" bIns="0" anchor="ctr">
            <a:spAutoFit/>
          </a:bodyPr>
          <a:lstStyle/>
          <a:p>
            <a:pPr algn="l"/>
            <a:r>
              <a:rPr sz="1250" b="0" i="0">
                <a:solidFill>
                  <a:srgbClr val="0A1F44"/>
                </a:solidFill>
                <a:latin typeface="Calibri"/>
              </a:rPr>
              <a:t>Retail margin  -  A set percentage (10% homes, 15% small business)</a:t>
            </a:r>
          </a:p>
        </p:txBody>
      </p:sp>
      <p:sp>
        <p:nvSpPr>
          <p:cNvPr id="17" name="TextBox 16"/>
          <p:cNvSpPr txBox="1"/>
          <p:nvPr/>
        </p:nvSpPr>
        <p:spPr>
          <a:xfrm>
            <a:off x="640080" y="6126480"/>
            <a:ext cx="6858000" cy="365760"/>
          </a:xfrm>
          <a:prstGeom prst="rect">
            <a:avLst/>
          </a:prstGeom>
          <a:noFill/>
        </p:spPr>
        <p:txBody>
          <a:bodyPr wrap="square" lIns="0" rIns="0" tIns="0" bIns="0">
            <a:spAutoFit/>
          </a:bodyPr>
          <a:lstStyle/>
          <a:p>
            <a:pPr algn="l"/>
            <a:r>
              <a:rPr sz="1300" b="1" i="0">
                <a:solidFill>
                  <a:srgbClr val="008C7A"/>
                </a:solidFill>
                <a:latin typeface="Calibri"/>
              </a:rPr>
              <a:t>(  sum of components  )  x  GST  =  annual reference price</a:t>
            </a:r>
          </a:p>
        </p:txBody>
      </p:sp>
      <p:sp>
        <p:nvSpPr>
          <p:cNvPr id="18" name="Rectangle 17"/>
          <p:cNvSpPr/>
          <p:nvPr/>
        </p:nvSpPr>
        <p:spPr>
          <a:xfrm>
            <a:off x="7772400" y="1828800"/>
            <a:ext cx="3931920" cy="420624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1828800"/>
            <a:ext cx="3931920" cy="64008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0" y="1938528"/>
            <a:ext cx="3566160" cy="411480"/>
          </a:xfrm>
          <a:prstGeom prst="rect">
            <a:avLst/>
          </a:prstGeom>
          <a:noFill/>
        </p:spPr>
        <p:txBody>
          <a:bodyPr wrap="square" lIns="0" rIns="0" tIns="0" bIns="0" anchor="ctr">
            <a:spAutoFit/>
          </a:bodyPr>
          <a:lstStyle/>
          <a:p>
            <a:pPr algn="l"/>
            <a:r>
              <a:rPr sz="1400" b="1" i="0">
                <a:solidFill>
                  <a:srgbClr val="FFFFFF"/>
                </a:solidFill>
                <a:latin typeface="Calibri"/>
              </a:rPr>
              <a:t>Worked example - Ausgrid 2026-27</a:t>
            </a:r>
          </a:p>
        </p:txBody>
      </p:sp>
      <p:sp>
        <p:nvSpPr>
          <p:cNvPr id="21" name="TextBox 20"/>
          <p:cNvSpPr txBox="1"/>
          <p:nvPr/>
        </p:nvSpPr>
        <p:spPr>
          <a:xfrm>
            <a:off x="8001000" y="2560320"/>
            <a:ext cx="3566160" cy="274320"/>
          </a:xfrm>
          <a:prstGeom prst="rect">
            <a:avLst/>
          </a:prstGeom>
          <a:noFill/>
        </p:spPr>
        <p:txBody>
          <a:bodyPr wrap="square" lIns="0" rIns="0" tIns="0" bIns="0">
            <a:spAutoFit/>
          </a:bodyPr>
          <a:lstStyle/>
          <a:p>
            <a:pPr algn="l"/>
            <a:r>
              <a:rPr sz="1050" b="0" i="1">
                <a:solidFill>
                  <a:srgbClr val="5B6378"/>
                </a:solidFill>
                <a:latin typeface="Calibri"/>
              </a:rPr>
              <a:t>model customer, 3,900 kWh/yr</a:t>
            </a:r>
          </a:p>
        </p:txBody>
      </p:sp>
      <p:sp>
        <p:nvSpPr>
          <p:cNvPr id="22" name="Rectangle 21"/>
          <p:cNvSpPr/>
          <p:nvPr/>
        </p:nvSpPr>
        <p:spPr>
          <a:xfrm>
            <a:off x="8001000" y="3072384"/>
            <a:ext cx="182880" cy="18288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3017520"/>
            <a:ext cx="2377440" cy="365760"/>
          </a:xfrm>
          <a:prstGeom prst="rect">
            <a:avLst/>
          </a:prstGeom>
          <a:noFill/>
        </p:spPr>
        <p:txBody>
          <a:bodyPr wrap="square" lIns="0" rIns="0" tIns="0" bIns="0" anchor="ctr">
            <a:spAutoFit/>
          </a:bodyPr>
          <a:lstStyle/>
          <a:p>
            <a:pPr algn="l"/>
            <a:r>
              <a:rPr sz="1300" b="0" i="0">
                <a:solidFill>
                  <a:srgbClr val="0A1F44"/>
                </a:solidFill>
                <a:latin typeface="Calibri"/>
              </a:rPr>
              <a:t>Network</a:t>
            </a:r>
          </a:p>
        </p:txBody>
      </p:sp>
      <p:sp>
        <p:nvSpPr>
          <p:cNvPr id="24" name="TextBox 23"/>
          <p:cNvSpPr txBox="1"/>
          <p:nvPr/>
        </p:nvSpPr>
        <p:spPr>
          <a:xfrm>
            <a:off x="10424160" y="3017520"/>
            <a:ext cx="1097280" cy="365760"/>
          </a:xfrm>
          <a:prstGeom prst="rect">
            <a:avLst/>
          </a:prstGeom>
          <a:noFill/>
        </p:spPr>
        <p:txBody>
          <a:bodyPr wrap="square" lIns="0" rIns="0" tIns="0" bIns="0" anchor="ctr">
            <a:spAutoFit/>
          </a:bodyPr>
          <a:lstStyle/>
          <a:p>
            <a:pPr algn="r"/>
            <a:r>
              <a:rPr sz="1300" b="1" i="0">
                <a:solidFill>
                  <a:srgbClr val="0A1F44"/>
                </a:solidFill>
                <a:latin typeface="Calibri"/>
              </a:rPr>
              <a:t>$838</a:t>
            </a:r>
          </a:p>
        </p:txBody>
      </p:sp>
      <p:sp>
        <p:nvSpPr>
          <p:cNvPr id="25" name="Rectangle 24"/>
          <p:cNvSpPr/>
          <p:nvPr/>
        </p:nvSpPr>
        <p:spPr>
          <a:xfrm>
            <a:off x="8001000" y="3575303"/>
            <a:ext cx="182880" cy="18288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520439"/>
            <a:ext cx="2377440" cy="365760"/>
          </a:xfrm>
          <a:prstGeom prst="rect">
            <a:avLst/>
          </a:prstGeom>
          <a:noFill/>
        </p:spPr>
        <p:txBody>
          <a:bodyPr wrap="square" lIns="0" rIns="0" tIns="0" bIns="0" anchor="ctr">
            <a:spAutoFit/>
          </a:bodyPr>
          <a:lstStyle/>
          <a:p>
            <a:pPr algn="l"/>
            <a:r>
              <a:rPr sz="1300" b="0" i="0">
                <a:solidFill>
                  <a:srgbClr val="0A1F44"/>
                </a:solidFill>
                <a:latin typeface="Calibri"/>
              </a:rPr>
              <a:t>Wholesale</a:t>
            </a:r>
          </a:p>
        </p:txBody>
      </p:sp>
      <p:sp>
        <p:nvSpPr>
          <p:cNvPr id="27" name="TextBox 26"/>
          <p:cNvSpPr txBox="1"/>
          <p:nvPr/>
        </p:nvSpPr>
        <p:spPr>
          <a:xfrm>
            <a:off x="10424160" y="3520439"/>
            <a:ext cx="1097280" cy="365760"/>
          </a:xfrm>
          <a:prstGeom prst="rect">
            <a:avLst/>
          </a:prstGeom>
          <a:noFill/>
        </p:spPr>
        <p:txBody>
          <a:bodyPr wrap="square" lIns="0" rIns="0" tIns="0" bIns="0" anchor="ctr">
            <a:spAutoFit/>
          </a:bodyPr>
          <a:lstStyle/>
          <a:p>
            <a:pPr algn="r"/>
            <a:r>
              <a:rPr sz="1300" b="1" i="0">
                <a:solidFill>
                  <a:srgbClr val="0A1F44"/>
                </a:solidFill>
                <a:latin typeface="Calibri"/>
              </a:rPr>
              <a:t>$735</a:t>
            </a:r>
          </a:p>
        </p:txBody>
      </p:sp>
      <p:sp>
        <p:nvSpPr>
          <p:cNvPr id="28" name="Rectangle 27"/>
          <p:cNvSpPr/>
          <p:nvPr/>
        </p:nvSpPr>
        <p:spPr>
          <a:xfrm>
            <a:off x="8001000" y="4078224"/>
            <a:ext cx="182880" cy="182880"/>
          </a:xfrm>
          <a:prstGeom prst="rect">
            <a:avLst/>
          </a:prstGeom>
          <a:solidFill>
            <a:srgbClr val="5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4023360"/>
            <a:ext cx="2377440" cy="365760"/>
          </a:xfrm>
          <a:prstGeom prst="rect">
            <a:avLst/>
          </a:prstGeom>
          <a:noFill/>
        </p:spPr>
        <p:txBody>
          <a:bodyPr wrap="square" lIns="0" rIns="0" tIns="0" bIns="0" anchor="ctr">
            <a:spAutoFit/>
          </a:bodyPr>
          <a:lstStyle/>
          <a:p>
            <a:pPr algn="l"/>
            <a:r>
              <a:rPr sz="1300" b="0" i="0">
                <a:solidFill>
                  <a:srgbClr val="0A1F44"/>
                </a:solidFill>
                <a:latin typeface="Calibri"/>
              </a:rPr>
              <a:t>Retail + margin</a:t>
            </a:r>
          </a:p>
        </p:txBody>
      </p:sp>
      <p:sp>
        <p:nvSpPr>
          <p:cNvPr id="30" name="TextBox 29"/>
          <p:cNvSpPr txBox="1"/>
          <p:nvPr/>
        </p:nvSpPr>
        <p:spPr>
          <a:xfrm>
            <a:off x="10424160" y="4023360"/>
            <a:ext cx="1097280" cy="365760"/>
          </a:xfrm>
          <a:prstGeom prst="rect">
            <a:avLst/>
          </a:prstGeom>
          <a:noFill/>
        </p:spPr>
        <p:txBody>
          <a:bodyPr wrap="square" lIns="0" rIns="0" tIns="0" bIns="0" anchor="ctr">
            <a:spAutoFit/>
          </a:bodyPr>
          <a:lstStyle/>
          <a:p>
            <a:pPr algn="r"/>
            <a:r>
              <a:rPr sz="1300" b="1" i="0">
                <a:solidFill>
                  <a:srgbClr val="0A1F44"/>
                </a:solidFill>
                <a:latin typeface="Calibri"/>
              </a:rPr>
              <a:t>$266</a:t>
            </a:r>
          </a:p>
        </p:txBody>
      </p:sp>
      <p:sp>
        <p:nvSpPr>
          <p:cNvPr id="31" name="Rectangle 30"/>
          <p:cNvSpPr/>
          <p:nvPr/>
        </p:nvSpPr>
        <p:spPr>
          <a:xfrm>
            <a:off x="8001000" y="4581144"/>
            <a:ext cx="182880" cy="18288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4526280"/>
            <a:ext cx="2377440" cy="365760"/>
          </a:xfrm>
          <a:prstGeom prst="rect">
            <a:avLst/>
          </a:prstGeom>
          <a:noFill/>
        </p:spPr>
        <p:txBody>
          <a:bodyPr wrap="square" lIns="0" rIns="0" tIns="0" bIns="0" anchor="ctr">
            <a:spAutoFit/>
          </a:bodyPr>
          <a:lstStyle/>
          <a:p>
            <a:pPr algn="l"/>
            <a:r>
              <a:rPr sz="1300" b="0" i="0">
                <a:solidFill>
                  <a:srgbClr val="0A1F44"/>
                </a:solidFill>
                <a:latin typeface="Calibri"/>
              </a:rPr>
              <a:t>Environmental</a:t>
            </a:r>
          </a:p>
        </p:txBody>
      </p:sp>
      <p:sp>
        <p:nvSpPr>
          <p:cNvPr id="33" name="TextBox 32"/>
          <p:cNvSpPr txBox="1"/>
          <p:nvPr/>
        </p:nvSpPr>
        <p:spPr>
          <a:xfrm>
            <a:off x="10424160" y="4526280"/>
            <a:ext cx="1097280" cy="365760"/>
          </a:xfrm>
          <a:prstGeom prst="rect">
            <a:avLst/>
          </a:prstGeom>
          <a:noFill/>
        </p:spPr>
        <p:txBody>
          <a:bodyPr wrap="square" lIns="0" rIns="0" tIns="0" bIns="0" anchor="ctr">
            <a:spAutoFit/>
          </a:bodyPr>
          <a:lstStyle/>
          <a:p>
            <a:pPr algn="r"/>
            <a:r>
              <a:rPr sz="1300" b="1" i="0">
                <a:solidFill>
                  <a:srgbClr val="0A1F44"/>
                </a:solidFill>
                <a:latin typeface="Calibri"/>
              </a:rPr>
              <a:t>$60</a:t>
            </a:r>
          </a:p>
        </p:txBody>
      </p:sp>
      <p:sp>
        <p:nvSpPr>
          <p:cNvPr id="34" name="Rectangle 33"/>
          <p:cNvSpPr/>
          <p:nvPr/>
        </p:nvSpPr>
        <p:spPr>
          <a:xfrm>
            <a:off x="8001000" y="5120640"/>
            <a:ext cx="3520440" cy="18288"/>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5212080"/>
            <a:ext cx="2194560" cy="411480"/>
          </a:xfrm>
          <a:prstGeom prst="rect">
            <a:avLst/>
          </a:prstGeom>
          <a:noFill/>
        </p:spPr>
        <p:txBody>
          <a:bodyPr wrap="square" lIns="0" rIns="0" tIns="0" bIns="0" anchor="ctr">
            <a:spAutoFit/>
          </a:bodyPr>
          <a:lstStyle/>
          <a:p>
            <a:pPr algn="l"/>
            <a:r>
              <a:rPr sz="1400" b="1" i="0">
                <a:solidFill>
                  <a:srgbClr val="0A1F44"/>
                </a:solidFill>
                <a:latin typeface="Calibri"/>
              </a:rPr>
              <a:t>Reference price</a:t>
            </a:r>
          </a:p>
        </p:txBody>
      </p:sp>
      <p:sp>
        <p:nvSpPr>
          <p:cNvPr id="36" name="TextBox 35"/>
          <p:cNvSpPr txBox="1"/>
          <p:nvPr/>
        </p:nvSpPr>
        <p:spPr>
          <a:xfrm>
            <a:off x="10058400" y="5193792"/>
            <a:ext cx="1463040" cy="457200"/>
          </a:xfrm>
          <a:prstGeom prst="rect">
            <a:avLst/>
          </a:prstGeom>
          <a:noFill/>
        </p:spPr>
        <p:txBody>
          <a:bodyPr wrap="square" lIns="0" rIns="0" tIns="0" bIns="0" anchor="ctr">
            <a:spAutoFit/>
          </a:bodyPr>
          <a:lstStyle/>
          <a:p>
            <a:pPr algn="r"/>
            <a:r>
              <a:rPr sz="1900" b="1" i="0">
                <a:solidFill>
                  <a:srgbClr val="008C7A"/>
                </a:solidFill>
                <a:latin typeface="Calibri"/>
              </a:rPr>
              <a:t>$1,899</a:t>
            </a:r>
          </a:p>
        </p:txBody>
      </p:sp>
      <p:sp>
        <p:nvSpPr>
          <p:cNvPr id="37" name="TextBox 36"/>
          <p:cNvSpPr txBox="1"/>
          <p:nvPr/>
        </p:nvSpPr>
        <p:spPr>
          <a:xfrm>
            <a:off x="8001000" y="5715000"/>
            <a:ext cx="3520440" cy="320040"/>
          </a:xfrm>
          <a:prstGeom prst="rect">
            <a:avLst/>
          </a:prstGeom>
          <a:noFill/>
        </p:spPr>
        <p:txBody>
          <a:bodyPr wrap="square" lIns="0" rIns="0" tIns="0" bIns="0">
            <a:spAutoFit/>
          </a:bodyPr>
          <a:lstStyle/>
          <a:p>
            <a:pPr algn="l"/>
            <a:r>
              <a:rPr sz="850" b="0" i="1">
                <a:solidFill>
                  <a:srgbClr val="5B6378"/>
                </a:solidFill>
                <a:latin typeface="Calibri"/>
              </a:rPr>
              <a:t>Network &amp; retail split indicative; wholesale &amp; environmental from AER cost data.</a:t>
            </a:r>
          </a:p>
        </p:txBody>
      </p:sp>
      <p:sp>
        <p:nvSpPr>
          <p:cNvPr id="38" name="TextBox 37"/>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AER DMO methodology - ACIL Allen wholesale modelling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THE SEVEN-YEAR ARC</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The bill went on a rollercoaster</a:t>
            </a:r>
          </a:p>
        </p:txBody>
      </p:sp>
      <p:pic>
        <p:nvPicPr>
          <p:cNvPr id="6" name="Picture 5" descr="traj.png"/>
          <p:cNvPicPr>
            <a:picLocks noChangeAspect="1"/>
          </p:cNvPicPr>
          <p:nvPr/>
        </p:nvPicPr>
        <p:blipFill>
          <a:blip r:embed="rId2"/>
          <a:stretch>
            <a:fillRect/>
          </a:stretch>
        </p:blipFill>
        <p:spPr>
          <a:xfrm>
            <a:off x="548640" y="1828800"/>
            <a:ext cx="7757514" cy="4389120"/>
          </a:xfrm>
          <a:prstGeom prst="rect">
            <a:avLst/>
          </a:prstGeom>
        </p:spPr>
      </p:pic>
      <p:sp>
        <p:nvSpPr>
          <p:cNvPr id="7" name="Rectangle 6"/>
          <p:cNvSpPr/>
          <p:nvPr/>
        </p:nvSpPr>
        <p:spPr>
          <a:xfrm>
            <a:off x="8869680" y="2011680"/>
            <a:ext cx="2743200" cy="365760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0" y="2011680"/>
            <a:ext cx="82296" cy="365760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2240280"/>
            <a:ext cx="2377440" cy="548640"/>
          </a:xfrm>
          <a:prstGeom prst="rect">
            <a:avLst/>
          </a:prstGeom>
          <a:noFill/>
        </p:spPr>
        <p:txBody>
          <a:bodyPr wrap="square" lIns="0" rIns="0" tIns="0" bIns="0">
            <a:spAutoFit/>
          </a:bodyPr>
          <a:lstStyle/>
          <a:p>
            <a:pPr algn="l"/>
            <a:r>
              <a:rPr sz="2400" b="1" i="0">
                <a:solidFill>
                  <a:srgbClr val="0A1F44"/>
                </a:solidFill>
                <a:latin typeface="Calibri"/>
              </a:rPr>
              <a:t>+36% to +50%</a:t>
            </a:r>
          </a:p>
        </p:txBody>
      </p:sp>
      <p:sp>
        <p:nvSpPr>
          <p:cNvPr id="10" name="TextBox 9"/>
          <p:cNvSpPr txBox="1"/>
          <p:nvPr/>
        </p:nvSpPr>
        <p:spPr>
          <a:xfrm>
            <a:off x="9098280" y="2834640"/>
            <a:ext cx="2377440" cy="365760"/>
          </a:xfrm>
          <a:prstGeom prst="rect">
            <a:avLst/>
          </a:prstGeom>
          <a:noFill/>
        </p:spPr>
        <p:txBody>
          <a:bodyPr wrap="square" lIns="0" rIns="0" tIns="0" bIns="0">
            <a:spAutoFit/>
          </a:bodyPr>
          <a:lstStyle/>
          <a:p>
            <a:pPr algn="l"/>
            <a:r>
              <a:rPr sz="1200" b="0" i="0">
                <a:solidFill>
                  <a:srgbClr val="5B6378"/>
                </a:solidFill>
                <a:latin typeface="Calibri"/>
              </a:rPr>
              <a:t>trough (2021) to peak</a:t>
            </a:r>
          </a:p>
        </p:txBody>
      </p:sp>
      <p:sp>
        <p:nvSpPr>
          <p:cNvPr id="11" name="TextBox 10"/>
          <p:cNvSpPr txBox="1"/>
          <p:nvPr/>
        </p:nvSpPr>
        <p:spPr>
          <a:xfrm>
            <a:off x="9098280" y="3383280"/>
            <a:ext cx="2423160" cy="1097280"/>
          </a:xfrm>
          <a:prstGeom prst="rect">
            <a:avLst/>
          </a:prstGeom>
          <a:noFill/>
        </p:spPr>
        <p:txBody>
          <a:bodyPr wrap="square" lIns="0" rIns="0" tIns="0" bIns="0">
            <a:spAutoFit/>
          </a:bodyPr>
          <a:lstStyle/>
          <a:p>
            <a:pPr algn="l"/>
            <a:r>
              <a:rPr sz="1400" b="0" i="0">
                <a:solidFill>
                  <a:srgbClr val="0A1F44"/>
                </a:solidFill>
                <a:latin typeface="Calibri"/>
              </a:rPr>
              <a:t>Then 2026 brings the first real relief - except in South Australia.</a:t>
            </a:r>
          </a:p>
        </p:txBody>
      </p:sp>
      <p:sp>
        <p:nvSpPr>
          <p:cNvPr id="12" name="TextBox 11"/>
          <p:cNvSpPr txBox="1"/>
          <p:nvPr/>
        </p:nvSpPr>
        <p:spPr>
          <a:xfrm>
            <a:off x="9098280" y="4617720"/>
            <a:ext cx="2423160" cy="914400"/>
          </a:xfrm>
          <a:prstGeom prst="rect">
            <a:avLst/>
          </a:prstGeom>
          <a:noFill/>
        </p:spPr>
        <p:txBody>
          <a:bodyPr wrap="square" lIns="0" rIns="0" tIns="0" bIns="0">
            <a:spAutoFit/>
          </a:bodyPr>
          <a:lstStyle/>
          <a:p>
            <a:pPr algn="l"/>
            <a:r>
              <a:rPr sz="1100" b="0" i="1">
                <a:solidFill>
                  <a:srgbClr val="008C7A"/>
                </a:solidFill>
                <a:latin typeface="Calibri"/>
              </a:rPr>
              <a:t>Outside regional NSW, SA is now the most expensive zone.</a:t>
            </a:r>
          </a:p>
        </p:txBody>
      </p:sp>
      <p:sp>
        <p:nvSpPr>
          <p:cNvPr id="13" name="TextBox 12"/>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AER final determinations, DMO 1-8 - residential flat rate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WHERE YOUR DOLLAR GOES</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Four costs stack up to your bill</a:t>
            </a:r>
          </a:p>
        </p:txBody>
      </p:sp>
      <p:pic>
        <p:nvPicPr>
          <p:cNvPr id="6" name="Picture 5" descr="dough.png"/>
          <p:cNvPicPr>
            <a:picLocks noChangeAspect="1"/>
          </p:cNvPicPr>
          <p:nvPr/>
        </p:nvPicPr>
        <p:blipFill>
          <a:blip r:embed="rId2"/>
          <a:stretch>
            <a:fillRect/>
          </a:stretch>
        </p:blipFill>
        <p:spPr>
          <a:xfrm>
            <a:off x="640080" y="1920240"/>
            <a:ext cx="4206240" cy="4206240"/>
          </a:xfrm>
          <a:prstGeom prst="rect">
            <a:avLst/>
          </a:prstGeom>
        </p:spPr>
      </p:pic>
      <p:sp>
        <p:nvSpPr>
          <p:cNvPr id="7" name="Rectangle 6"/>
          <p:cNvSpPr/>
          <p:nvPr/>
        </p:nvSpPr>
        <p:spPr>
          <a:xfrm>
            <a:off x="6035040" y="2057400"/>
            <a:ext cx="256032" cy="256032"/>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65960"/>
            <a:ext cx="5120640" cy="365760"/>
          </a:xfrm>
          <a:prstGeom prst="rect">
            <a:avLst/>
          </a:prstGeom>
          <a:noFill/>
        </p:spPr>
        <p:txBody>
          <a:bodyPr wrap="square" lIns="0" rIns="0" tIns="0" bIns="0">
            <a:spAutoFit/>
          </a:bodyPr>
          <a:lstStyle/>
          <a:p>
            <a:pPr algn="l"/>
            <a:r>
              <a:rPr sz="1600" b="1" i="0">
                <a:solidFill>
                  <a:srgbClr val="0A1F44"/>
                </a:solidFill>
                <a:latin typeface="Calibri"/>
              </a:rPr>
              <a:t>Network   47%</a:t>
            </a:r>
          </a:p>
        </p:txBody>
      </p:sp>
      <p:sp>
        <p:nvSpPr>
          <p:cNvPr id="9" name="TextBox 8"/>
          <p:cNvSpPr txBox="1"/>
          <p:nvPr/>
        </p:nvSpPr>
        <p:spPr>
          <a:xfrm>
            <a:off x="6446520" y="2359152"/>
            <a:ext cx="5120640" cy="640080"/>
          </a:xfrm>
          <a:prstGeom prst="rect">
            <a:avLst/>
          </a:prstGeom>
          <a:noFill/>
        </p:spPr>
        <p:txBody>
          <a:bodyPr wrap="square" lIns="0" rIns="0" tIns="0" bIns="0">
            <a:spAutoFit/>
          </a:bodyPr>
          <a:lstStyle/>
          <a:p>
            <a:pPr algn="l"/>
            <a:r>
              <a:rPr sz="1250" b="0" i="0">
                <a:solidFill>
                  <a:srgbClr val="5B6378"/>
                </a:solidFill>
                <a:latin typeface="Calibri"/>
              </a:rPr>
              <a:t>Poles, wires &amp; transmission. The biggest slice — and it never stops rising.</a:t>
            </a:r>
          </a:p>
        </p:txBody>
      </p:sp>
      <p:sp>
        <p:nvSpPr>
          <p:cNvPr id="10" name="Rectangle 9"/>
          <p:cNvSpPr/>
          <p:nvPr/>
        </p:nvSpPr>
        <p:spPr>
          <a:xfrm>
            <a:off x="6035040" y="3108960"/>
            <a:ext cx="256032" cy="25603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3017520"/>
            <a:ext cx="5120640" cy="365760"/>
          </a:xfrm>
          <a:prstGeom prst="rect">
            <a:avLst/>
          </a:prstGeom>
          <a:noFill/>
        </p:spPr>
        <p:txBody>
          <a:bodyPr wrap="square" lIns="0" rIns="0" tIns="0" bIns="0">
            <a:spAutoFit/>
          </a:bodyPr>
          <a:lstStyle/>
          <a:p>
            <a:pPr algn="l"/>
            <a:r>
              <a:rPr sz="1600" b="1" i="0">
                <a:solidFill>
                  <a:srgbClr val="0A1F44"/>
                </a:solidFill>
                <a:latin typeface="Calibri"/>
              </a:rPr>
              <a:t>Wholesale   31%</a:t>
            </a:r>
          </a:p>
        </p:txBody>
      </p:sp>
      <p:sp>
        <p:nvSpPr>
          <p:cNvPr id="12" name="TextBox 11"/>
          <p:cNvSpPr txBox="1"/>
          <p:nvPr/>
        </p:nvSpPr>
        <p:spPr>
          <a:xfrm>
            <a:off x="6446520" y="3410712"/>
            <a:ext cx="5120640" cy="640080"/>
          </a:xfrm>
          <a:prstGeom prst="rect">
            <a:avLst/>
          </a:prstGeom>
          <a:noFill/>
        </p:spPr>
        <p:txBody>
          <a:bodyPr wrap="square" lIns="0" rIns="0" tIns="0" bIns="0">
            <a:spAutoFit/>
          </a:bodyPr>
          <a:lstStyle/>
          <a:p>
            <a:pPr algn="l"/>
            <a:r>
              <a:rPr sz="1250" b="0" i="0">
                <a:solidFill>
                  <a:srgbClr val="5B6378"/>
                </a:solidFill>
                <a:latin typeface="Calibri"/>
              </a:rPr>
              <a:t>Buying the actual electricity. The volatile one that drove the spike.</a:t>
            </a:r>
          </a:p>
        </p:txBody>
      </p:sp>
      <p:sp>
        <p:nvSpPr>
          <p:cNvPr id="13" name="Rectangle 12"/>
          <p:cNvSpPr/>
          <p:nvPr/>
        </p:nvSpPr>
        <p:spPr>
          <a:xfrm>
            <a:off x="6035040" y="4160520"/>
            <a:ext cx="256032" cy="256032"/>
          </a:xfrm>
          <a:prstGeom prst="rect">
            <a:avLst/>
          </a:prstGeom>
          <a:solidFill>
            <a:srgbClr val="5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5120640" cy="365760"/>
          </a:xfrm>
          <a:prstGeom prst="rect">
            <a:avLst/>
          </a:prstGeom>
          <a:noFill/>
        </p:spPr>
        <p:txBody>
          <a:bodyPr wrap="square" lIns="0" rIns="0" tIns="0" bIns="0">
            <a:spAutoFit/>
          </a:bodyPr>
          <a:lstStyle/>
          <a:p>
            <a:pPr algn="l"/>
            <a:r>
              <a:rPr sz="1600" b="1" i="0">
                <a:solidFill>
                  <a:srgbClr val="0A1F44"/>
                </a:solidFill>
                <a:latin typeface="Calibri"/>
              </a:rPr>
              <a:t>Retail + margin   14%</a:t>
            </a:r>
          </a:p>
        </p:txBody>
      </p:sp>
      <p:sp>
        <p:nvSpPr>
          <p:cNvPr id="15" name="TextBox 14"/>
          <p:cNvSpPr txBox="1"/>
          <p:nvPr/>
        </p:nvSpPr>
        <p:spPr>
          <a:xfrm>
            <a:off x="6446520" y="4462272"/>
            <a:ext cx="5120640" cy="640080"/>
          </a:xfrm>
          <a:prstGeom prst="rect">
            <a:avLst/>
          </a:prstGeom>
          <a:noFill/>
        </p:spPr>
        <p:txBody>
          <a:bodyPr wrap="square" lIns="0" rIns="0" tIns="0" bIns="0">
            <a:spAutoFit/>
          </a:bodyPr>
          <a:lstStyle/>
          <a:p>
            <a:pPr algn="l"/>
            <a:r>
              <a:rPr sz="1250" b="0" i="0">
                <a:solidFill>
                  <a:srgbClr val="5B6378"/>
                </a:solidFill>
                <a:latin typeface="Calibri"/>
              </a:rPr>
              <a:t>Running the retailer, plus profit.</a:t>
            </a:r>
          </a:p>
        </p:txBody>
      </p:sp>
      <p:sp>
        <p:nvSpPr>
          <p:cNvPr id="16" name="Rectangle 15"/>
          <p:cNvSpPr/>
          <p:nvPr/>
        </p:nvSpPr>
        <p:spPr>
          <a:xfrm>
            <a:off x="6035040" y="5212080"/>
            <a:ext cx="256032" cy="25603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5120640"/>
            <a:ext cx="5120640" cy="365760"/>
          </a:xfrm>
          <a:prstGeom prst="rect">
            <a:avLst/>
          </a:prstGeom>
          <a:noFill/>
        </p:spPr>
        <p:txBody>
          <a:bodyPr wrap="square" lIns="0" rIns="0" tIns="0" bIns="0">
            <a:spAutoFit/>
          </a:bodyPr>
          <a:lstStyle/>
          <a:p>
            <a:pPr algn="l"/>
            <a:r>
              <a:rPr sz="1600" b="1" i="0">
                <a:solidFill>
                  <a:srgbClr val="0A1F44"/>
                </a:solidFill>
                <a:latin typeface="Calibri"/>
              </a:rPr>
              <a:t>Environmental   8%</a:t>
            </a:r>
          </a:p>
        </p:txBody>
      </p:sp>
      <p:sp>
        <p:nvSpPr>
          <p:cNvPr id="18" name="TextBox 17"/>
          <p:cNvSpPr txBox="1"/>
          <p:nvPr/>
        </p:nvSpPr>
        <p:spPr>
          <a:xfrm>
            <a:off x="6446520" y="5513832"/>
            <a:ext cx="5120640" cy="640080"/>
          </a:xfrm>
          <a:prstGeom prst="rect">
            <a:avLst/>
          </a:prstGeom>
          <a:noFill/>
        </p:spPr>
        <p:txBody>
          <a:bodyPr wrap="square" lIns="0" rIns="0" tIns="0" bIns="0">
            <a:spAutoFit/>
          </a:bodyPr>
          <a:lstStyle/>
          <a:p>
            <a:pPr algn="l"/>
            <a:r>
              <a:rPr sz="1250" b="0" i="0">
                <a:solidFill>
                  <a:srgbClr val="5B6378"/>
                </a:solidFill>
                <a:latin typeface="Calibri"/>
              </a:rPr>
              <a:t>Renewable &amp; rooftop-solar schemes. Falling lately.</a:t>
            </a:r>
          </a:p>
        </p:txBody>
      </p:sp>
      <p:sp>
        <p:nvSpPr>
          <p:cNvPr id="19" name="TextBox 18"/>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Indicative split - AER DMO 8 cost-stack proportions; varies by zone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WHERE YOUR DOLLAR GOES OVER TIME</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Every component, tracked year by year</a:t>
            </a:r>
          </a:p>
        </p:txBody>
      </p:sp>
      <p:pic>
        <p:nvPicPr>
          <p:cNvPr id="6" name="Picture 5" descr="comp.png"/>
          <p:cNvPicPr>
            <a:picLocks noChangeAspect="1"/>
          </p:cNvPicPr>
          <p:nvPr/>
        </p:nvPicPr>
        <p:blipFill>
          <a:blip r:embed="rId2"/>
          <a:stretch>
            <a:fillRect/>
          </a:stretch>
        </p:blipFill>
        <p:spPr>
          <a:xfrm>
            <a:off x="457200" y="1737360"/>
            <a:ext cx="6916928" cy="4206240"/>
          </a:xfrm>
          <a:prstGeom prst="rect">
            <a:avLst/>
          </a:prstGeom>
        </p:spPr>
      </p:pic>
      <p:sp>
        <p:nvSpPr>
          <p:cNvPr id="7" name="TextBox 6"/>
          <p:cNvSpPr txBox="1"/>
          <p:nvPr/>
        </p:nvSpPr>
        <p:spPr>
          <a:xfrm>
            <a:off x="7955279" y="1783080"/>
            <a:ext cx="3840480" cy="320040"/>
          </a:xfrm>
          <a:prstGeom prst="rect">
            <a:avLst/>
          </a:prstGeom>
          <a:noFill/>
        </p:spPr>
        <p:txBody>
          <a:bodyPr wrap="square" lIns="0" rIns="0" tIns="0" bIns="0">
            <a:spAutoFit/>
          </a:bodyPr>
          <a:lstStyle/>
          <a:p>
            <a:pPr algn="l"/>
            <a:r>
              <a:rPr sz="1200" b="1" i="0">
                <a:solidFill>
                  <a:srgbClr val="5B6378"/>
                </a:solidFill>
                <a:latin typeface="Calibri"/>
              </a:rPr>
              <a:t>Year-on-year, 2025-26 to 2026-27</a:t>
            </a:r>
          </a:p>
        </p:txBody>
      </p:sp>
      <p:sp>
        <p:nvSpPr>
          <p:cNvPr id="8" name="Rectangle 7"/>
          <p:cNvSpPr/>
          <p:nvPr/>
        </p:nvSpPr>
        <p:spPr>
          <a:xfrm>
            <a:off x="7955279" y="2286000"/>
            <a:ext cx="3749039" cy="69494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2286000"/>
            <a:ext cx="82296" cy="694944"/>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2395728"/>
            <a:ext cx="2286000" cy="457200"/>
          </a:xfrm>
          <a:prstGeom prst="rect">
            <a:avLst/>
          </a:prstGeom>
          <a:noFill/>
        </p:spPr>
        <p:txBody>
          <a:bodyPr wrap="square" lIns="0" rIns="0" tIns="0" bIns="0" anchor="ctr">
            <a:spAutoFit/>
          </a:bodyPr>
          <a:lstStyle/>
          <a:p>
            <a:pPr algn="l"/>
            <a:r>
              <a:rPr sz="1400" b="1" i="0">
                <a:solidFill>
                  <a:srgbClr val="0A1F44"/>
                </a:solidFill>
                <a:latin typeface="Calibri"/>
              </a:rPr>
              <a:t>Wholesale</a:t>
            </a:r>
          </a:p>
        </p:txBody>
      </p:sp>
      <p:sp>
        <p:nvSpPr>
          <p:cNvPr id="11" name="TextBox 10"/>
          <p:cNvSpPr txBox="1"/>
          <p:nvPr/>
        </p:nvSpPr>
        <p:spPr>
          <a:xfrm>
            <a:off x="10241280" y="2395728"/>
            <a:ext cx="1325880" cy="457200"/>
          </a:xfrm>
          <a:prstGeom prst="rect">
            <a:avLst/>
          </a:prstGeom>
          <a:noFill/>
        </p:spPr>
        <p:txBody>
          <a:bodyPr wrap="square" lIns="0" rIns="0" tIns="0" bIns="0" anchor="ctr">
            <a:spAutoFit/>
          </a:bodyPr>
          <a:lstStyle/>
          <a:p>
            <a:pPr algn="r"/>
            <a:r>
              <a:rPr sz="1500" b="1" i="0">
                <a:solidFill>
                  <a:srgbClr val="008C7A"/>
                </a:solidFill>
                <a:latin typeface="Calibri"/>
              </a:rPr>
              <a:t>v -8.7%</a:t>
            </a:r>
          </a:p>
        </p:txBody>
      </p:sp>
      <p:sp>
        <p:nvSpPr>
          <p:cNvPr id="12" name="Rectangle 11"/>
          <p:cNvSpPr/>
          <p:nvPr/>
        </p:nvSpPr>
        <p:spPr>
          <a:xfrm>
            <a:off x="7955279" y="3127248"/>
            <a:ext cx="3749039" cy="69494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3127248"/>
            <a:ext cx="82296" cy="694944"/>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3236976"/>
            <a:ext cx="2286000" cy="457200"/>
          </a:xfrm>
          <a:prstGeom prst="rect">
            <a:avLst/>
          </a:prstGeom>
          <a:noFill/>
        </p:spPr>
        <p:txBody>
          <a:bodyPr wrap="square" lIns="0" rIns="0" tIns="0" bIns="0" anchor="ctr">
            <a:spAutoFit/>
          </a:bodyPr>
          <a:lstStyle/>
          <a:p>
            <a:pPr algn="l"/>
            <a:r>
              <a:rPr sz="1400" b="1" i="0">
                <a:solidFill>
                  <a:srgbClr val="0A1F44"/>
                </a:solidFill>
                <a:latin typeface="Calibri"/>
              </a:rPr>
              <a:t>Network</a:t>
            </a:r>
          </a:p>
        </p:txBody>
      </p:sp>
      <p:sp>
        <p:nvSpPr>
          <p:cNvPr id="15" name="TextBox 14"/>
          <p:cNvSpPr txBox="1"/>
          <p:nvPr/>
        </p:nvSpPr>
        <p:spPr>
          <a:xfrm>
            <a:off x="10241280" y="3236976"/>
            <a:ext cx="1325880" cy="457200"/>
          </a:xfrm>
          <a:prstGeom prst="rect">
            <a:avLst/>
          </a:prstGeom>
          <a:noFill/>
        </p:spPr>
        <p:txBody>
          <a:bodyPr wrap="square" lIns="0" rIns="0" tIns="0" bIns="0" anchor="ctr">
            <a:spAutoFit/>
          </a:bodyPr>
          <a:lstStyle/>
          <a:p>
            <a:pPr algn="r"/>
            <a:r>
              <a:rPr sz="1500" b="1" i="0">
                <a:solidFill>
                  <a:srgbClr val="9A7D00"/>
                </a:solidFill>
                <a:latin typeface="Calibri"/>
              </a:rPr>
              <a:t>^ +5.4%</a:t>
            </a:r>
          </a:p>
        </p:txBody>
      </p:sp>
      <p:sp>
        <p:nvSpPr>
          <p:cNvPr id="16" name="Rectangle 15"/>
          <p:cNvSpPr/>
          <p:nvPr/>
        </p:nvSpPr>
        <p:spPr>
          <a:xfrm>
            <a:off x="7955279" y="3968496"/>
            <a:ext cx="3749039" cy="69494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3968496"/>
            <a:ext cx="82296" cy="694944"/>
          </a:xfrm>
          <a:prstGeom prst="rect">
            <a:avLst/>
          </a:prstGeom>
          <a:solidFill>
            <a:srgbClr val="5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4078224"/>
            <a:ext cx="2286000" cy="457200"/>
          </a:xfrm>
          <a:prstGeom prst="rect">
            <a:avLst/>
          </a:prstGeom>
          <a:noFill/>
        </p:spPr>
        <p:txBody>
          <a:bodyPr wrap="square" lIns="0" rIns="0" tIns="0" bIns="0" anchor="ctr">
            <a:spAutoFit/>
          </a:bodyPr>
          <a:lstStyle/>
          <a:p>
            <a:pPr algn="l"/>
            <a:r>
              <a:rPr sz="1400" b="1" i="0">
                <a:solidFill>
                  <a:srgbClr val="0A1F44"/>
                </a:solidFill>
                <a:latin typeface="Calibri"/>
              </a:rPr>
              <a:t>Retail + margin</a:t>
            </a:r>
          </a:p>
        </p:txBody>
      </p:sp>
      <p:sp>
        <p:nvSpPr>
          <p:cNvPr id="19" name="TextBox 18"/>
          <p:cNvSpPr txBox="1"/>
          <p:nvPr/>
        </p:nvSpPr>
        <p:spPr>
          <a:xfrm>
            <a:off x="10241280" y="4078224"/>
            <a:ext cx="1325880" cy="457200"/>
          </a:xfrm>
          <a:prstGeom prst="rect">
            <a:avLst/>
          </a:prstGeom>
          <a:noFill/>
        </p:spPr>
        <p:txBody>
          <a:bodyPr wrap="square" lIns="0" rIns="0" tIns="0" bIns="0" anchor="ctr">
            <a:spAutoFit/>
          </a:bodyPr>
          <a:lstStyle/>
          <a:p>
            <a:pPr algn="r"/>
            <a:r>
              <a:rPr sz="1500" b="1" i="0">
                <a:solidFill>
                  <a:srgbClr val="008C7A"/>
                </a:solidFill>
                <a:latin typeface="Calibri"/>
              </a:rPr>
              <a:t>v -9.8%</a:t>
            </a:r>
          </a:p>
        </p:txBody>
      </p:sp>
      <p:sp>
        <p:nvSpPr>
          <p:cNvPr id="20" name="Rectangle 19"/>
          <p:cNvSpPr/>
          <p:nvPr/>
        </p:nvSpPr>
        <p:spPr>
          <a:xfrm>
            <a:off x="7955279" y="4809744"/>
            <a:ext cx="3749039" cy="69494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79" y="4809744"/>
            <a:ext cx="82296" cy="69494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4919472"/>
            <a:ext cx="2286000" cy="457200"/>
          </a:xfrm>
          <a:prstGeom prst="rect">
            <a:avLst/>
          </a:prstGeom>
          <a:noFill/>
        </p:spPr>
        <p:txBody>
          <a:bodyPr wrap="square" lIns="0" rIns="0" tIns="0" bIns="0" anchor="ctr">
            <a:spAutoFit/>
          </a:bodyPr>
          <a:lstStyle/>
          <a:p>
            <a:pPr algn="l"/>
            <a:r>
              <a:rPr sz="1400" b="1" i="0">
                <a:solidFill>
                  <a:srgbClr val="0A1F44"/>
                </a:solidFill>
                <a:latin typeface="Calibri"/>
              </a:rPr>
              <a:t>Environmental</a:t>
            </a:r>
          </a:p>
        </p:txBody>
      </p:sp>
      <p:sp>
        <p:nvSpPr>
          <p:cNvPr id="23" name="TextBox 22"/>
          <p:cNvSpPr txBox="1"/>
          <p:nvPr/>
        </p:nvSpPr>
        <p:spPr>
          <a:xfrm>
            <a:off x="10241280" y="4919472"/>
            <a:ext cx="1325880" cy="457200"/>
          </a:xfrm>
          <a:prstGeom prst="rect">
            <a:avLst/>
          </a:prstGeom>
          <a:noFill/>
        </p:spPr>
        <p:txBody>
          <a:bodyPr wrap="square" lIns="0" rIns="0" tIns="0" bIns="0" anchor="ctr">
            <a:spAutoFit/>
          </a:bodyPr>
          <a:lstStyle/>
          <a:p>
            <a:pPr algn="r"/>
            <a:r>
              <a:rPr sz="1500" b="1" i="0">
                <a:solidFill>
                  <a:srgbClr val="008C7A"/>
                </a:solidFill>
                <a:latin typeface="Calibri"/>
              </a:rPr>
              <a:t>v -14.3%</a:t>
            </a:r>
          </a:p>
        </p:txBody>
      </p:sp>
      <p:sp>
        <p:nvSpPr>
          <p:cNvPr id="24" name="TextBox 23"/>
          <p:cNvSpPr txBox="1"/>
          <p:nvPr/>
        </p:nvSpPr>
        <p:spPr>
          <a:xfrm>
            <a:off x="457200" y="6126480"/>
            <a:ext cx="7315200" cy="274320"/>
          </a:xfrm>
          <a:prstGeom prst="rect">
            <a:avLst/>
          </a:prstGeom>
          <a:noFill/>
        </p:spPr>
        <p:txBody>
          <a:bodyPr wrap="square" lIns="0" rIns="0" tIns="0" bIns="0">
            <a:spAutoFit/>
          </a:bodyPr>
          <a:lstStyle/>
          <a:p>
            <a:pPr algn="l"/>
            <a:r>
              <a:rPr sz="950" b="0" i="1">
                <a:solidFill>
                  <a:srgbClr val="5B6378"/>
                </a:solidFill>
                <a:latin typeface="Calibri"/>
              </a:rPr>
              <a:t>Nominal dollars; adjusted for inflation the rise is far smaller (next slide). Bars reconcile to the published bill.</a:t>
            </a:r>
          </a:p>
        </p:txBody>
      </p:sp>
      <p:sp>
        <p:nvSpPr>
          <p:cNvPr id="25" name="TextBox 24"/>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Ausgrid residential - wholesale &amp; environmental from AER cost data; network/retail split indicative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ADJUSTED FOR INFLATION</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Adjust for inflation, and the rise shrinks</a:t>
            </a:r>
          </a:p>
        </p:txBody>
      </p:sp>
      <p:pic>
        <p:nvPicPr>
          <p:cNvPr id="6" name="Picture 5" descr="realnom.png"/>
          <p:cNvPicPr>
            <a:picLocks noChangeAspect="1"/>
          </p:cNvPicPr>
          <p:nvPr/>
        </p:nvPicPr>
        <p:blipFill>
          <a:blip r:embed="rId2"/>
          <a:stretch>
            <a:fillRect/>
          </a:stretch>
        </p:blipFill>
        <p:spPr>
          <a:xfrm>
            <a:off x="502920" y="1828800"/>
            <a:ext cx="6698512" cy="4114800"/>
          </a:xfrm>
          <a:prstGeom prst="rect">
            <a:avLst/>
          </a:prstGeom>
        </p:spPr>
      </p:pic>
      <p:sp>
        <p:nvSpPr>
          <p:cNvPr id="7" name="TextBox 6"/>
          <p:cNvSpPr txBox="1"/>
          <p:nvPr/>
        </p:nvSpPr>
        <p:spPr>
          <a:xfrm>
            <a:off x="548640" y="6035040"/>
            <a:ext cx="6400800" cy="274320"/>
          </a:xfrm>
          <a:prstGeom prst="rect">
            <a:avLst/>
          </a:prstGeom>
          <a:noFill/>
        </p:spPr>
        <p:txBody>
          <a:bodyPr wrap="square" lIns="0" rIns="0" tIns="0" bIns="0">
            <a:spAutoFit/>
          </a:bodyPr>
          <a:lstStyle/>
          <a:p>
            <a:pPr algn="l"/>
            <a:r>
              <a:rPr sz="1000" b="0" i="1">
                <a:solidFill>
                  <a:srgbClr val="5B6378"/>
                </a:solidFill>
                <a:latin typeface="Calibri"/>
              </a:rPr>
              <a:t>Ausgrid residential - nominal vs real</a:t>
            </a:r>
          </a:p>
        </p:txBody>
      </p:sp>
      <p:sp>
        <p:nvSpPr>
          <p:cNvPr id="8" name="TextBox 7"/>
          <p:cNvSpPr txBox="1"/>
          <p:nvPr/>
        </p:nvSpPr>
        <p:spPr>
          <a:xfrm>
            <a:off x="7772400" y="1783080"/>
            <a:ext cx="3931920" cy="320040"/>
          </a:xfrm>
          <a:prstGeom prst="rect">
            <a:avLst/>
          </a:prstGeom>
          <a:noFill/>
        </p:spPr>
        <p:txBody>
          <a:bodyPr wrap="square" lIns="0" rIns="0" tIns="0" bIns="0">
            <a:spAutoFit/>
          </a:bodyPr>
          <a:lstStyle/>
          <a:p>
            <a:pPr algn="l"/>
            <a:r>
              <a:rPr sz="1300" b="1" i="0">
                <a:solidFill>
                  <a:srgbClr val="0A1F44"/>
                </a:solidFill>
                <a:latin typeface="Calibri"/>
              </a:rPr>
              <a:t>2019-20 to 2026-27 change</a:t>
            </a:r>
          </a:p>
        </p:txBody>
      </p:sp>
      <p:sp>
        <p:nvSpPr>
          <p:cNvPr id="9" name="Rectangle 8"/>
          <p:cNvSpPr/>
          <p:nvPr/>
        </p:nvSpPr>
        <p:spPr>
          <a:xfrm>
            <a:off x="7772400" y="2194560"/>
            <a:ext cx="2011680" cy="329184"/>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45552" y="2194560"/>
            <a:ext cx="1901952" cy="329184"/>
          </a:xfrm>
          <a:prstGeom prst="rect">
            <a:avLst/>
          </a:prstGeom>
          <a:noFill/>
        </p:spPr>
        <p:txBody>
          <a:bodyPr wrap="square" lIns="0" rIns="0" tIns="0" bIns="0" anchor="ctr">
            <a:spAutoFit/>
          </a:bodyPr>
          <a:lstStyle/>
          <a:p>
            <a:pPr algn="l"/>
            <a:r>
              <a:rPr sz="1050" b="1" i="0">
                <a:solidFill>
                  <a:srgbClr val="FFFFFF"/>
                </a:solidFill>
                <a:latin typeface="Calibri"/>
              </a:rPr>
              <a:t>Zone</a:t>
            </a:r>
          </a:p>
        </p:txBody>
      </p:sp>
      <p:sp>
        <p:nvSpPr>
          <p:cNvPr id="11" name="Rectangle 10"/>
          <p:cNvSpPr/>
          <p:nvPr/>
        </p:nvSpPr>
        <p:spPr>
          <a:xfrm>
            <a:off x="9784080" y="2194560"/>
            <a:ext cx="960120" cy="329184"/>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57232" y="2194560"/>
            <a:ext cx="850392" cy="329184"/>
          </a:xfrm>
          <a:prstGeom prst="rect">
            <a:avLst/>
          </a:prstGeom>
          <a:noFill/>
        </p:spPr>
        <p:txBody>
          <a:bodyPr wrap="square" lIns="0" rIns="0" tIns="0" bIns="0" anchor="ctr">
            <a:spAutoFit/>
          </a:bodyPr>
          <a:lstStyle/>
          <a:p>
            <a:pPr algn="l"/>
            <a:r>
              <a:rPr sz="1050" b="1" i="0">
                <a:solidFill>
                  <a:srgbClr val="FFFFFF"/>
                </a:solidFill>
                <a:latin typeface="Calibri"/>
              </a:rPr>
              <a:t>Nominal</a:t>
            </a:r>
          </a:p>
        </p:txBody>
      </p:sp>
      <p:sp>
        <p:nvSpPr>
          <p:cNvPr id="13" name="Rectangle 12"/>
          <p:cNvSpPr/>
          <p:nvPr/>
        </p:nvSpPr>
        <p:spPr>
          <a:xfrm>
            <a:off x="10744200" y="2194560"/>
            <a:ext cx="960120" cy="329184"/>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17352" y="2194560"/>
            <a:ext cx="850392" cy="329184"/>
          </a:xfrm>
          <a:prstGeom prst="rect">
            <a:avLst/>
          </a:prstGeom>
          <a:noFill/>
        </p:spPr>
        <p:txBody>
          <a:bodyPr wrap="square" lIns="0" rIns="0" tIns="0" bIns="0" anchor="ctr">
            <a:spAutoFit/>
          </a:bodyPr>
          <a:lstStyle/>
          <a:p>
            <a:pPr algn="l"/>
            <a:r>
              <a:rPr sz="1050" b="1" i="0">
                <a:solidFill>
                  <a:srgbClr val="FFFFFF"/>
                </a:solidFill>
                <a:latin typeface="Calibri"/>
              </a:rPr>
              <a:t>Real</a:t>
            </a:r>
          </a:p>
        </p:txBody>
      </p:sp>
      <p:sp>
        <p:nvSpPr>
          <p:cNvPr id="15" name="Rectangle 14"/>
          <p:cNvSpPr/>
          <p:nvPr/>
        </p:nvSpPr>
        <p:spPr>
          <a:xfrm>
            <a:off x="7772400" y="2523744"/>
            <a:ext cx="201168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45552" y="2523744"/>
            <a:ext cx="1901952" cy="329184"/>
          </a:xfrm>
          <a:prstGeom prst="rect">
            <a:avLst/>
          </a:prstGeom>
          <a:noFill/>
        </p:spPr>
        <p:txBody>
          <a:bodyPr wrap="square" lIns="0" rIns="0" tIns="0" bIns="0" anchor="ctr">
            <a:spAutoFit/>
          </a:bodyPr>
          <a:lstStyle/>
          <a:p>
            <a:pPr algn="l"/>
            <a:r>
              <a:rPr sz="1050" b="0" i="0">
                <a:solidFill>
                  <a:srgbClr val="1B2A3A"/>
                </a:solidFill>
                <a:latin typeface="Calibri"/>
              </a:rPr>
              <a:t>Ausgrid</a:t>
            </a:r>
          </a:p>
        </p:txBody>
      </p:sp>
      <p:sp>
        <p:nvSpPr>
          <p:cNvPr id="17" name="Rectangle 16"/>
          <p:cNvSpPr/>
          <p:nvPr/>
        </p:nvSpPr>
        <p:spPr>
          <a:xfrm>
            <a:off x="9784080" y="2523744"/>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57232" y="2523744"/>
            <a:ext cx="850392" cy="329184"/>
          </a:xfrm>
          <a:prstGeom prst="rect">
            <a:avLst/>
          </a:prstGeom>
          <a:noFill/>
        </p:spPr>
        <p:txBody>
          <a:bodyPr wrap="square" lIns="0" rIns="0" tIns="0" bIns="0" anchor="ctr">
            <a:spAutoFit/>
          </a:bodyPr>
          <a:lstStyle/>
          <a:p>
            <a:pPr algn="l"/>
            <a:r>
              <a:rPr sz="1050" b="0" i="0">
                <a:solidFill>
                  <a:srgbClr val="1B2A3A"/>
                </a:solidFill>
                <a:latin typeface="Calibri"/>
              </a:rPr>
              <a:t>+29%</a:t>
            </a:r>
          </a:p>
        </p:txBody>
      </p:sp>
      <p:sp>
        <p:nvSpPr>
          <p:cNvPr id="19" name="Rectangle 18"/>
          <p:cNvSpPr/>
          <p:nvPr/>
        </p:nvSpPr>
        <p:spPr>
          <a:xfrm>
            <a:off x="10744200" y="2523744"/>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17352" y="2523744"/>
            <a:ext cx="850392" cy="329184"/>
          </a:xfrm>
          <a:prstGeom prst="rect">
            <a:avLst/>
          </a:prstGeom>
          <a:noFill/>
        </p:spPr>
        <p:txBody>
          <a:bodyPr wrap="square" lIns="0" rIns="0" tIns="0" bIns="0" anchor="ctr">
            <a:spAutoFit/>
          </a:bodyPr>
          <a:lstStyle/>
          <a:p>
            <a:pPr algn="l"/>
            <a:r>
              <a:rPr sz="1050" b="1" i="0">
                <a:solidFill>
                  <a:srgbClr val="008C7A"/>
                </a:solidFill>
                <a:latin typeface="Calibri"/>
              </a:rPr>
              <a:t>+1%</a:t>
            </a:r>
          </a:p>
        </p:txBody>
      </p:sp>
      <p:sp>
        <p:nvSpPr>
          <p:cNvPr id="21" name="Rectangle 20"/>
          <p:cNvSpPr/>
          <p:nvPr/>
        </p:nvSpPr>
        <p:spPr>
          <a:xfrm>
            <a:off x="7772400" y="2852928"/>
            <a:ext cx="201168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5552" y="2852928"/>
            <a:ext cx="1901952" cy="329184"/>
          </a:xfrm>
          <a:prstGeom prst="rect">
            <a:avLst/>
          </a:prstGeom>
          <a:noFill/>
        </p:spPr>
        <p:txBody>
          <a:bodyPr wrap="square" lIns="0" rIns="0" tIns="0" bIns="0" anchor="ctr">
            <a:spAutoFit/>
          </a:bodyPr>
          <a:lstStyle/>
          <a:p>
            <a:pPr algn="l"/>
            <a:r>
              <a:rPr sz="1050" b="0" i="0">
                <a:solidFill>
                  <a:srgbClr val="1B2A3A"/>
                </a:solidFill>
                <a:latin typeface="Calibri"/>
              </a:rPr>
              <a:t>Endeavour</a:t>
            </a:r>
          </a:p>
        </p:txBody>
      </p:sp>
      <p:sp>
        <p:nvSpPr>
          <p:cNvPr id="23" name="Rectangle 22"/>
          <p:cNvSpPr/>
          <p:nvPr/>
        </p:nvSpPr>
        <p:spPr>
          <a:xfrm>
            <a:off x="9784080" y="2852928"/>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57232" y="2852928"/>
            <a:ext cx="850392" cy="329184"/>
          </a:xfrm>
          <a:prstGeom prst="rect">
            <a:avLst/>
          </a:prstGeom>
          <a:noFill/>
        </p:spPr>
        <p:txBody>
          <a:bodyPr wrap="square" lIns="0" rIns="0" tIns="0" bIns="0" anchor="ctr">
            <a:spAutoFit/>
          </a:bodyPr>
          <a:lstStyle/>
          <a:p>
            <a:pPr algn="l"/>
            <a:r>
              <a:rPr sz="1050" b="0" i="0">
                <a:solidFill>
                  <a:srgbClr val="1B2A3A"/>
                </a:solidFill>
                <a:latin typeface="Calibri"/>
              </a:rPr>
              <a:t>+35%</a:t>
            </a:r>
          </a:p>
        </p:txBody>
      </p:sp>
      <p:sp>
        <p:nvSpPr>
          <p:cNvPr id="25" name="Rectangle 24"/>
          <p:cNvSpPr/>
          <p:nvPr/>
        </p:nvSpPr>
        <p:spPr>
          <a:xfrm>
            <a:off x="10744200" y="2852928"/>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17352" y="2852928"/>
            <a:ext cx="850392" cy="329184"/>
          </a:xfrm>
          <a:prstGeom prst="rect">
            <a:avLst/>
          </a:prstGeom>
          <a:noFill/>
        </p:spPr>
        <p:txBody>
          <a:bodyPr wrap="square" lIns="0" rIns="0" tIns="0" bIns="0" anchor="ctr">
            <a:spAutoFit/>
          </a:bodyPr>
          <a:lstStyle/>
          <a:p>
            <a:pPr algn="l"/>
            <a:r>
              <a:rPr sz="1050" b="1" i="0">
                <a:solidFill>
                  <a:srgbClr val="008C7A"/>
                </a:solidFill>
                <a:latin typeface="Calibri"/>
              </a:rPr>
              <a:t>+5%</a:t>
            </a:r>
          </a:p>
        </p:txBody>
      </p:sp>
      <p:sp>
        <p:nvSpPr>
          <p:cNvPr id="27" name="Rectangle 26"/>
          <p:cNvSpPr/>
          <p:nvPr/>
        </p:nvSpPr>
        <p:spPr>
          <a:xfrm>
            <a:off x="7772400" y="3182112"/>
            <a:ext cx="201168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5552" y="3182112"/>
            <a:ext cx="1901952" cy="329184"/>
          </a:xfrm>
          <a:prstGeom prst="rect">
            <a:avLst/>
          </a:prstGeom>
          <a:noFill/>
        </p:spPr>
        <p:txBody>
          <a:bodyPr wrap="square" lIns="0" rIns="0" tIns="0" bIns="0" anchor="ctr">
            <a:spAutoFit/>
          </a:bodyPr>
          <a:lstStyle/>
          <a:p>
            <a:pPr algn="l"/>
            <a:r>
              <a:rPr sz="1050" b="0" i="0">
                <a:solidFill>
                  <a:srgbClr val="1B2A3A"/>
                </a:solidFill>
                <a:latin typeface="Calibri"/>
              </a:rPr>
              <a:t>Essential</a:t>
            </a:r>
          </a:p>
        </p:txBody>
      </p:sp>
      <p:sp>
        <p:nvSpPr>
          <p:cNvPr id="29" name="Rectangle 28"/>
          <p:cNvSpPr/>
          <p:nvPr/>
        </p:nvSpPr>
        <p:spPr>
          <a:xfrm>
            <a:off x="9784080" y="3182112"/>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7232" y="3182112"/>
            <a:ext cx="850392" cy="329184"/>
          </a:xfrm>
          <a:prstGeom prst="rect">
            <a:avLst/>
          </a:prstGeom>
          <a:noFill/>
        </p:spPr>
        <p:txBody>
          <a:bodyPr wrap="square" lIns="0" rIns="0" tIns="0" bIns="0" anchor="ctr">
            <a:spAutoFit/>
          </a:bodyPr>
          <a:lstStyle/>
          <a:p>
            <a:pPr algn="l"/>
            <a:r>
              <a:rPr sz="1050" b="0" i="0">
                <a:solidFill>
                  <a:srgbClr val="1B2A3A"/>
                </a:solidFill>
                <a:latin typeface="Calibri"/>
              </a:rPr>
              <a:t>+33%</a:t>
            </a:r>
          </a:p>
        </p:txBody>
      </p:sp>
      <p:sp>
        <p:nvSpPr>
          <p:cNvPr id="31" name="Rectangle 30"/>
          <p:cNvSpPr/>
          <p:nvPr/>
        </p:nvSpPr>
        <p:spPr>
          <a:xfrm>
            <a:off x="10744200" y="3182112"/>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817352" y="3182112"/>
            <a:ext cx="850392" cy="329184"/>
          </a:xfrm>
          <a:prstGeom prst="rect">
            <a:avLst/>
          </a:prstGeom>
          <a:noFill/>
        </p:spPr>
        <p:txBody>
          <a:bodyPr wrap="square" lIns="0" rIns="0" tIns="0" bIns="0" anchor="ctr">
            <a:spAutoFit/>
          </a:bodyPr>
          <a:lstStyle/>
          <a:p>
            <a:pPr algn="l"/>
            <a:r>
              <a:rPr sz="1050" b="1" i="0">
                <a:solidFill>
                  <a:srgbClr val="008C7A"/>
                </a:solidFill>
                <a:latin typeface="Calibri"/>
              </a:rPr>
              <a:t>+3%</a:t>
            </a:r>
          </a:p>
        </p:txBody>
      </p:sp>
      <p:sp>
        <p:nvSpPr>
          <p:cNvPr id="33" name="Rectangle 32"/>
          <p:cNvSpPr/>
          <p:nvPr/>
        </p:nvSpPr>
        <p:spPr>
          <a:xfrm>
            <a:off x="7772400" y="3511296"/>
            <a:ext cx="201168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45552" y="3511296"/>
            <a:ext cx="1901952" cy="329184"/>
          </a:xfrm>
          <a:prstGeom prst="rect">
            <a:avLst/>
          </a:prstGeom>
          <a:noFill/>
        </p:spPr>
        <p:txBody>
          <a:bodyPr wrap="square" lIns="0" rIns="0" tIns="0" bIns="0" anchor="ctr">
            <a:spAutoFit/>
          </a:bodyPr>
          <a:lstStyle/>
          <a:p>
            <a:pPr algn="l"/>
            <a:r>
              <a:rPr sz="1050" b="0" i="0">
                <a:solidFill>
                  <a:srgbClr val="1B2A3A"/>
                </a:solidFill>
                <a:latin typeface="Calibri"/>
              </a:rPr>
              <a:t>Energex</a:t>
            </a:r>
          </a:p>
        </p:txBody>
      </p:sp>
      <p:sp>
        <p:nvSpPr>
          <p:cNvPr id="35" name="Rectangle 34"/>
          <p:cNvSpPr/>
          <p:nvPr/>
        </p:nvSpPr>
        <p:spPr>
          <a:xfrm>
            <a:off x="9784080" y="3511296"/>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57232" y="3511296"/>
            <a:ext cx="850392" cy="329184"/>
          </a:xfrm>
          <a:prstGeom prst="rect">
            <a:avLst/>
          </a:prstGeom>
          <a:noFill/>
        </p:spPr>
        <p:txBody>
          <a:bodyPr wrap="square" lIns="0" rIns="0" tIns="0" bIns="0" anchor="ctr">
            <a:spAutoFit/>
          </a:bodyPr>
          <a:lstStyle/>
          <a:p>
            <a:pPr algn="l"/>
            <a:r>
              <a:rPr sz="1050" b="0" i="0">
                <a:solidFill>
                  <a:srgbClr val="1B2A3A"/>
                </a:solidFill>
                <a:latin typeface="Calibri"/>
              </a:rPr>
              <a:t>+27%</a:t>
            </a:r>
          </a:p>
        </p:txBody>
      </p:sp>
      <p:sp>
        <p:nvSpPr>
          <p:cNvPr id="37" name="Rectangle 36"/>
          <p:cNvSpPr/>
          <p:nvPr/>
        </p:nvSpPr>
        <p:spPr>
          <a:xfrm>
            <a:off x="10744200" y="3511296"/>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17352" y="3511296"/>
            <a:ext cx="850392" cy="329184"/>
          </a:xfrm>
          <a:prstGeom prst="rect">
            <a:avLst/>
          </a:prstGeom>
          <a:noFill/>
        </p:spPr>
        <p:txBody>
          <a:bodyPr wrap="square" lIns="0" rIns="0" tIns="0" bIns="0" anchor="ctr">
            <a:spAutoFit/>
          </a:bodyPr>
          <a:lstStyle/>
          <a:p>
            <a:pPr algn="l"/>
            <a:r>
              <a:rPr sz="1050" b="1" i="0">
                <a:solidFill>
                  <a:srgbClr val="008C7A"/>
                </a:solidFill>
                <a:latin typeface="Calibri"/>
              </a:rPr>
              <a:t>-2%</a:t>
            </a:r>
          </a:p>
        </p:txBody>
      </p:sp>
      <p:sp>
        <p:nvSpPr>
          <p:cNvPr id="39" name="Rectangle 38"/>
          <p:cNvSpPr/>
          <p:nvPr/>
        </p:nvSpPr>
        <p:spPr>
          <a:xfrm>
            <a:off x="7772400" y="3840479"/>
            <a:ext cx="201168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45552" y="3840479"/>
            <a:ext cx="1901952" cy="329184"/>
          </a:xfrm>
          <a:prstGeom prst="rect">
            <a:avLst/>
          </a:prstGeom>
          <a:noFill/>
        </p:spPr>
        <p:txBody>
          <a:bodyPr wrap="square" lIns="0" rIns="0" tIns="0" bIns="0" anchor="ctr">
            <a:spAutoFit/>
          </a:bodyPr>
          <a:lstStyle/>
          <a:p>
            <a:pPr algn="l"/>
            <a:r>
              <a:rPr sz="1050" b="0" i="0">
                <a:solidFill>
                  <a:srgbClr val="1B2A3A"/>
                </a:solidFill>
                <a:latin typeface="Calibri"/>
              </a:rPr>
              <a:t>SA Power Networks</a:t>
            </a:r>
          </a:p>
        </p:txBody>
      </p:sp>
      <p:sp>
        <p:nvSpPr>
          <p:cNvPr id="41" name="Rectangle 40"/>
          <p:cNvSpPr/>
          <p:nvPr/>
        </p:nvSpPr>
        <p:spPr>
          <a:xfrm>
            <a:off x="9784080" y="3840479"/>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57232" y="3840479"/>
            <a:ext cx="850392" cy="329184"/>
          </a:xfrm>
          <a:prstGeom prst="rect">
            <a:avLst/>
          </a:prstGeom>
          <a:noFill/>
        </p:spPr>
        <p:txBody>
          <a:bodyPr wrap="square" lIns="0" rIns="0" tIns="0" bIns="0" anchor="ctr">
            <a:spAutoFit/>
          </a:bodyPr>
          <a:lstStyle/>
          <a:p>
            <a:pPr algn="l"/>
            <a:r>
              <a:rPr sz="1050" b="0" i="0">
                <a:solidFill>
                  <a:srgbClr val="1B2A3A"/>
                </a:solidFill>
                <a:latin typeface="Calibri"/>
              </a:rPr>
              <a:t>+20%</a:t>
            </a:r>
          </a:p>
        </p:txBody>
      </p:sp>
      <p:sp>
        <p:nvSpPr>
          <p:cNvPr id="43" name="Rectangle 42"/>
          <p:cNvSpPr/>
          <p:nvPr/>
        </p:nvSpPr>
        <p:spPr>
          <a:xfrm>
            <a:off x="10744200" y="3840479"/>
            <a:ext cx="960120" cy="329184"/>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17352" y="3840479"/>
            <a:ext cx="850392" cy="329184"/>
          </a:xfrm>
          <a:prstGeom prst="rect">
            <a:avLst/>
          </a:prstGeom>
          <a:noFill/>
        </p:spPr>
        <p:txBody>
          <a:bodyPr wrap="square" lIns="0" rIns="0" tIns="0" bIns="0" anchor="ctr">
            <a:spAutoFit/>
          </a:bodyPr>
          <a:lstStyle/>
          <a:p>
            <a:pPr algn="l"/>
            <a:r>
              <a:rPr sz="1050" b="1" i="0">
                <a:solidFill>
                  <a:srgbClr val="008C7A"/>
                </a:solidFill>
                <a:latin typeface="Calibri"/>
              </a:rPr>
              <a:t>-7%</a:t>
            </a:r>
          </a:p>
        </p:txBody>
      </p:sp>
      <p:sp>
        <p:nvSpPr>
          <p:cNvPr id="45" name="Rectangle 44"/>
          <p:cNvSpPr/>
          <p:nvPr/>
        </p:nvSpPr>
        <p:spPr>
          <a:xfrm>
            <a:off x="7772400" y="4572000"/>
            <a:ext cx="3931920" cy="1280160"/>
          </a:xfrm>
          <a:prstGeom prst="rect">
            <a:avLst/>
          </a:prstGeom>
          <a:solidFill>
            <a:srgbClr val="E6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0" y="4572000"/>
            <a:ext cx="82296" cy="128016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01000" y="4626864"/>
            <a:ext cx="3566160" cy="1207008"/>
          </a:xfrm>
          <a:prstGeom prst="rect">
            <a:avLst/>
          </a:prstGeom>
          <a:noFill/>
        </p:spPr>
        <p:txBody>
          <a:bodyPr wrap="square" lIns="0" rIns="0" tIns="0" bIns="0" anchor="ctr">
            <a:spAutoFit/>
          </a:bodyPr>
          <a:lstStyle/>
          <a:p>
            <a:pPr algn="l">
              <a:lnSpc>
                <a:spcPct val="104000"/>
              </a:lnSpc>
            </a:pPr>
            <a:r>
              <a:rPr sz="1100" b="0" i="0">
                <a:solidFill>
                  <a:srgbClr val="0A1F44"/>
                </a:solidFill>
                <a:latin typeface="Calibri"/>
              </a:rPr>
              <a:t>When we account for economy-wide inflation, the typical bill is roughly back to 2019 - SA and QLD are lower. The 2022 crisis spike was real, but has largely unwound.</a:t>
            </a:r>
          </a:p>
        </p:txBody>
      </p:sp>
      <p:sp>
        <p:nvSpPr>
          <p:cNvPr id="48" name="TextBox 47"/>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ABS CPI, all groups, weighted average of 8 capital cities (June quarter). 2026-27 estimated (~+4.3% y/y).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NETWORK - THE LONG VIEW</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000" b="1" i="0">
                <a:solidFill>
                  <a:srgbClr val="0A1F44"/>
                </a:solidFill>
                <a:latin typeface="Calibri"/>
              </a:rPr>
              <a:t>In real terms, the network peaked a decade ago</a:t>
            </a:r>
          </a:p>
        </p:txBody>
      </p:sp>
      <p:pic>
        <p:nvPicPr>
          <p:cNvPr id="6" name="Picture 5" descr="lv.png"/>
          <p:cNvPicPr>
            <a:picLocks noChangeAspect="1"/>
          </p:cNvPicPr>
          <p:nvPr/>
        </p:nvPicPr>
        <p:blipFill>
          <a:blip r:embed="rId2"/>
          <a:stretch>
            <a:fillRect/>
          </a:stretch>
        </p:blipFill>
        <p:spPr>
          <a:xfrm>
            <a:off x="502920" y="1783080"/>
            <a:ext cx="6736789" cy="4023360"/>
          </a:xfrm>
          <a:prstGeom prst="rect">
            <a:avLst/>
          </a:prstGeom>
        </p:spPr>
      </p:pic>
      <p:sp>
        <p:nvSpPr>
          <p:cNvPr id="7" name="Rectangle 6"/>
          <p:cNvSpPr/>
          <p:nvPr/>
        </p:nvSpPr>
        <p:spPr>
          <a:xfrm>
            <a:off x="7589520" y="1828800"/>
            <a:ext cx="4114800" cy="89611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0" y="1828800"/>
            <a:ext cx="82296" cy="896112"/>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901952"/>
            <a:ext cx="2103120" cy="274320"/>
          </a:xfrm>
          <a:prstGeom prst="rect">
            <a:avLst/>
          </a:prstGeom>
          <a:noFill/>
        </p:spPr>
        <p:txBody>
          <a:bodyPr wrap="square" lIns="0" rIns="0" tIns="0" bIns="0">
            <a:spAutoFit/>
          </a:bodyPr>
          <a:lstStyle/>
          <a:p>
            <a:pPr algn="l"/>
            <a:r>
              <a:rPr sz="1200" b="1" i="0">
                <a:solidFill>
                  <a:srgbClr val="5B6378"/>
                </a:solidFill>
                <a:latin typeface="Calibri"/>
              </a:rPr>
              <a:t>Real revenue</a:t>
            </a:r>
          </a:p>
        </p:txBody>
      </p:sp>
      <p:sp>
        <p:nvSpPr>
          <p:cNvPr id="10" name="TextBox 9"/>
          <p:cNvSpPr txBox="1"/>
          <p:nvPr/>
        </p:nvSpPr>
        <p:spPr>
          <a:xfrm>
            <a:off x="9692640" y="1874519"/>
            <a:ext cx="1920240" cy="365760"/>
          </a:xfrm>
          <a:prstGeom prst="rect">
            <a:avLst/>
          </a:prstGeom>
          <a:noFill/>
        </p:spPr>
        <p:txBody>
          <a:bodyPr wrap="square" lIns="0" rIns="0" tIns="0" bIns="0">
            <a:spAutoFit/>
          </a:bodyPr>
          <a:lstStyle/>
          <a:p>
            <a:pPr algn="r"/>
            <a:r>
              <a:rPr sz="1800" b="1" i="0">
                <a:solidFill>
                  <a:srgbClr val="0A1F44"/>
                </a:solidFill>
                <a:latin typeface="Calibri Light"/>
              </a:rPr>
              <a:t>-32%</a:t>
            </a:r>
          </a:p>
        </p:txBody>
      </p:sp>
      <p:sp>
        <p:nvSpPr>
          <p:cNvPr id="11" name="TextBox 10"/>
          <p:cNvSpPr txBox="1"/>
          <p:nvPr/>
        </p:nvSpPr>
        <p:spPr>
          <a:xfrm>
            <a:off x="7818120" y="2258568"/>
            <a:ext cx="3749039" cy="365760"/>
          </a:xfrm>
          <a:prstGeom prst="rect">
            <a:avLst/>
          </a:prstGeom>
          <a:noFill/>
        </p:spPr>
        <p:txBody>
          <a:bodyPr wrap="square" lIns="0" rIns="0" tIns="0" bIns="0">
            <a:spAutoFit/>
          </a:bodyPr>
          <a:lstStyle/>
          <a:p>
            <a:pPr algn="l"/>
            <a:r>
              <a:rPr sz="1000" b="0" i="0">
                <a:solidFill>
                  <a:srgbClr val="5B6378"/>
                </a:solidFill>
                <a:latin typeface="Calibri"/>
              </a:rPr>
              <a:t>since the 2015 peak ($15.2bn -&gt; $10.3bn)</a:t>
            </a:r>
          </a:p>
        </p:txBody>
      </p:sp>
      <p:sp>
        <p:nvSpPr>
          <p:cNvPr id="12" name="Rectangle 11"/>
          <p:cNvSpPr/>
          <p:nvPr/>
        </p:nvSpPr>
        <p:spPr>
          <a:xfrm>
            <a:off x="7589520" y="2852928"/>
            <a:ext cx="4114800" cy="89611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2852928"/>
            <a:ext cx="82296" cy="89611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2926080"/>
            <a:ext cx="2103120" cy="274320"/>
          </a:xfrm>
          <a:prstGeom prst="rect">
            <a:avLst/>
          </a:prstGeom>
          <a:noFill/>
        </p:spPr>
        <p:txBody>
          <a:bodyPr wrap="square" lIns="0" rIns="0" tIns="0" bIns="0">
            <a:spAutoFit/>
          </a:bodyPr>
          <a:lstStyle/>
          <a:p>
            <a:pPr algn="l"/>
            <a:r>
              <a:rPr sz="1200" b="1" i="0">
                <a:solidFill>
                  <a:srgbClr val="5B6378"/>
                </a:solidFill>
                <a:latin typeface="Calibri"/>
              </a:rPr>
              <a:t>Asset base</a:t>
            </a:r>
          </a:p>
        </p:txBody>
      </p:sp>
      <p:sp>
        <p:nvSpPr>
          <p:cNvPr id="15" name="TextBox 14"/>
          <p:cNvSpPr txBox="1"/>
          <p:nvPr/>
        </p:nvSpPr>
        <p:spPr>
          <a:xfrm>
            <a:off x="9692640" y="2898648"/>
            <a:ext cx="1920240" cy="365760"/>
          </a:xfrm>
          <a:prstGeom prst="rect">
            <a:avLst/>
          </a:prstGeom>
          <a:noFill/>
        </p:spPr>
        <p:txBody>
          <a:bodyPr wrap="square" lIns="0" rIns="0" tIns="0" bIns="0">
            <a:spAutoFit/>
          </a:bodyPr>
          <a:lstStyle/>
          <a:p>
            <a:pPr algn="r"/>
            <a:r>
              <a:rPr sz="1800" b="1" i="0">
                <a:solidFill>
                  <a:srgbClr val="00C2A8"/>
                </a:solidFill>
                <a:latin typeface="Calibri Light"/>
              </a:rPr>
              <a:t>x2, then flat</a:t>
            </a:r>
          </a:p>
        </p:txBody>
      </p:sp>
      <p:sp>
        <p:nvSpPr>
          <p:cNvPr id="16" name="TextBox 15"/>
          <p:cNvSpPr txBox="1"/>
          <p:nvPr/>
        </p:nvSpPr>
        <p:spPr>
          <a:xfrm>
            <a:off x="7818120" y="3282696"/>
            <a:ext cx="3749039" cy="365760"/>
          </a:xfrm>
          <a:prstGeom prst="rect">
            <a:avLst/>
          </a:prstGeom>
          <a:noFill/>
        </p:spPr>
        <p:txBody>
          <a:bodyPr wrap="square" lIns="0" rIns="0" tIns="0" bIns="0">
            <a:spAutoFit/>
          </a:bodyPr>
          <a:lstStyle/>
          <a:p>
            <a:pPr algn="l"/>
            <a:r>
              <a:rPr sz="1000" b="0" i="0">
                <a:solidFill>
                  <a:srgbClr val="5B6378"/>
                </a:solidFill>
                <a:latin typeface="Calibri"/>
              </a:rPr>
              <a:t>doubled 2006-15; ~flat since (~$95bn)</a:t>
            </a:r>
          </a:p>
        </p:txBody>
      </p:sp>
      <p:sp>
        <p:nvSpPr>
          <p:cNvPr id="17" name="Rectangle 16"/>
          <p:cNvSpPr/>
          <p:nvPr/>
        </p:nvSpPr>
        <p:spPr>
          <a:xfrm>
            <a:off x="7589520" y="3877056"/>
            <a:ext cx="4114800" cy="89611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3877056"/>
            <a:ext cx="82296" cy="896112"/>
          </a:xfrm>
          <a:prstGeom prst="rect">
            <a:avLst/>
          </a:prstGeom>
          <a:solidFill>
            <a:srgbClr val="5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3950208"/>
            <a:ext cx="2103120" cy="274320"/>
          </a:xfrm>
          <a:prstGeom prst="rect">
            <a:avLst/>
          </a:prstGeom>
          <a:noFill/>
        </p:spPr>
        <p:txBody>
          <a:bodyPr wrap="square" lIns="0" rIns="0" tIns="0" bIns="0">
            <a:spAutoFit/>
          </a:bodyPr>
          <a:lstStyle/>
          <a:p>
            <a:pPr algn="l"/>
            <a:r>
              <a:rPr sz="1200" b="1" i="0">
                <a:solidFill>
                  <a:srgbClr val="5B6378"/>
                </a:solidFill>
                <a:latin typeface="Calibri"/>
              </a:rPr>
              <a:t>Capex</a:t>
            </a:r>
          </a:p>
        </p:txBody>
      </p:sp>
      <p:sp>
        <p:nvSpPr>
          <p:cNvPr id="20" name="TextBox 19"/>
          <p:cNvSpPr txBox="1"/>
          <p:nvPr/>
        </p:nvSpPr>
        <p:spPr>
          <a:xfrm>
            <a:off x="9692640" y="3922776"/>
            <a:ext cx="1920240" cy="365760"/>
          </a:xfrm>
          <a:prstGeom prst="rect">
            <a:avLst/>
          </a:prstGeom>
          <a:noFill/>
        </p:spPr>
        <p:txBody>
          <a:bodyPr wrap="square" lIns="0" rIns="0" tIns="0" bIns="0">
            <a:spAutoFit/>
          </a:bodyPr>
          <a:lstStyle/>
          <a:p>
            <a:pPr algn="r"/>
            <a:r>
              <a:rPr sz="1800" b="1" i="0">
                <a:solidFill>
                  <a:srgbClr val="5B6378"/>
                </a:solidFill>
                <a:latin typeface="Calibri Light"/>
              </a:rPr>
              <a:t>-36%</a:t>
            </a:r>
          </a:p>
        </p:txBody>
      </p:sp>
      <p:sp>
        <p:nvSpPr>
          <p:cNvPr id="21" name="TextBox 20"/>
          <p:cNvSpPr txBox="1"/>
          <p:nvPr/>
        </p:nvSpPr>
        <p:spPr>
          <a:xfrm>
            <a:off x="7818120" y="4306824"/>
            <a:ext cx="3749039" cy="365760"/>
          </a:xfrm>
          <a:prstGeom prst="rect">
            <a:avLst/>
          </a:prstGeom>
          <a:noFill/>
        </p:spPr>
        <p:txBody>
          <a:bodyPr wrap="square" lIns="0" rIns="0" tIns="0" bIns="0">
            <a:spAutoFit/>
          </a:bodyPr>
          <a:lstStyle/>
          <a:p>
            <a:pPr algn="l"/>
            <a:r>
              <a:rPr sz="1000" b="0" i="0">
                <a:solidFill>
                  <a:srgbClr val="5B6378"/>
                </a:solidFill>
                <a:latin typeface="Calibri"/>
              </a:rPr>
              <a:t>from the 2012 peak ($8.4bn -&gt; $5.4bn)</a:t>
            </a:r>
          </a:p>
        </p:txBody>
      </p:sp>
      <p:sp>
        <p:nvSpPr>
          <p:cNvPr id="22" name="Rectangle 21"/>
          <p:cNvSpPr/>
          <p:nvPr/>
        </p:nvSpPr>
        <p:spPr>
          <a:xfrm>
            <a:off x="7589520" y="4901184"/>
            <a:ext cx="4114800" cy="89611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9520" y="4901184"/>
            <a:ext cx="82296" cy="89611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18120" y="4974336"/>
            <a:ext cx="2103120" cy="274320"/>
          </a:xfrm>
          <a:prstGeom prst="rect">
            <a:avLst/>
          </a:prstGeom>
          <a:noFill/>
        </p:spPr>
        <p:txBody>
          <a:bodyPr wrap="square" lIns="0" rIns="0" tIns="0" bIns="0">
            <a:spAutoFit/>
          </a:bodyPr>
          <a:lstStyle/>
          <a:p>
            <a:pPr algn="l"/>
            <a:r>
              <a:rPr sz="1200" b="1" i="0">
                <a:solidFill>
                  <a:srgbClr val="5B6378"/>
                </a:solidFill>
                <a:latin typeface="Calibri"/>
              </a:rPr>
              <a:t>Allowed return</a:t>
            </a:r>
          </a:p>
        </p:txBody>
      </p:sp>
      <p:sp>
        <p:nvSpPr>
          <p:cNvPr id="25" name="TextBox 24"/>
          <p:cNvSpPr txBox="1"/>
          <p:nvPr/>
        </p:nvSpPr>
        <p:spPr>
          <a:xfrm>
            <a:off x="9692640" y="4946904"/>
            <a:ext cx="1920240" cy="365760"/>
          </a:xfrm>
          <a:prstGeom prst="rect">
            <a:avLst/>
          </a:prstGeom>
          <a:noFill/>
        </p:spPr>
        <p:txBody>
          <a:bodyPr wrap="square" lIns="0" rIns="0" tIns="0" bIns="0">
            <a:spAutoFit/>
          </a:bodyPr>
          <a:lstStyle/>
          <a:p>
            <a:pPr algn="r"/>
            <a:r>
              <a:rPr sz="1800" b="1" i="0">
                <a:solidFill>
                  <a:srgbClr val="9A7D00"/>
                </a:solidFill>
                <a:latin typeface="Calibri Light"/>
              </a:rPr>
              <a:t>~halved</a:t>
            </a:r>
          </a:p>
        </p:txBody>
      </p:sp>
      <p:sp>
        <p:nvSpPr>
          <p:cNvPr id="26" name="TextBox 25"/>
          <p:cNvSpPr txBox="1"/>
          <p:nvPr/>
        </p:nvSpPr>
        <p:spPr>
          <a:xfrm>
            <a:off x="7818120" y="5330952"/>
            <a:ext cx="3749039" cy="365760"/>
          </a:xfrm>
          <a:prstGeom prst="rect">
            <a:avLst/>
          </a:prstGeom>
          <a:noFill/>
        </p:spPr>
        <p:txBody>
          <a:bodyPr wrap="square" lIns="0" rIns="0" tIns="0" bIns="0">
            <a:spAutoFit/>
          </a:bodyPr>
          <a:lstStyle/>
          <a:p>
            <a:pPr algn="l"/>
            <a:r>
              <a:rPr sz="1000" b="0" i="0">
                <a:solidFill>
                  <a:srgbClr val="5B6378"/>
                </a:solidFill>
                <a:latin typeface="Calibri"/>
              </a:rPr>
              <a:t>~10% (2011) -&gt; ~5% (2024)</a:t>
            </a:r>
          </a:p>
        </p:txBody>
      </p:sp>
      <p:sp>
        <p:nvSpPr>
          <p:cNvPr id="27" name="TextBox 26"/>
          <p:cNvSpPr txBox="1"/>
          <p:nvPr/>
        </p:nvSpPr>
        <p:spPr>
          <a:xfrm>
            <a:off x="640080" y="5943600"/>
            <a:ext cx="10972800" cy="411480"/>
          </a:xfrm>
          <a:prstGeom prst="rect">
            <a:avLst/>
          </a:prstGeom>
          <a:noFill/>
        </p:spPr>
        <p:txBody>
          <a:bodyPr wrap="square" lIns="0" rIns="0" tIns="0" bIns="0">
            <a:spAutoFit/>
          </a:bodyPr>
          <a:lstStyle/>
          <a:p>
            <a:pPr algn="l">
              <a:lnSpc>
                <a:spcPct val="100000"/>
              </a:lnSpc>
            </a:pPr>
            <a:r>
              <a:rPr sz="1100" b="0" i="1">
                <a:solidFill>
                  <a:srgbClr val="5B6378"/>
                </a:solidFill>
                <a:latin typeface="Calibri"/>
              </a:rPr>
              <a:t>Real, 2024 dollars. Nominal revenue rose in the latest resets (+33-47%; see 'every network just reset'), but adjusted for inflation it sits below the 2015 peak. The recent bill rises are inflation and a rate-of-return bounce - not a transition-driven cost boom.</a:t>
            </a:r>
          </a:p>
        </p:txBody>
      </p:sp>
      <p:sp>
        <p:nvSpPr>
          <p:cNvPr id="28" name="TextBox 27"/>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AER State of the Energy Market 2025, ch.3 - real (June-2024 $) - NEM distribution aggregate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NETWORK - DECOMPOSED</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Network costs, decomposed</a:t>
            </a:r>
          </a:p>
        </p:txBody>
      </p:sp>
      <p:sp>
        <p:nvSpPr>
          <p:cNvPr id="6" name="TextBox 5"/>
          <p:cNvSpPr txBox="1"/>
          <p:nvPr/>
        </p:nvSpPr>
        <p:spPr>
          <a:xfrm>
            <a:off x="640080" y="1783080"/>
            <a:ext cx="10972800" cy="274320"/>
          </a:xfrm>
          <a:prstGeom prst="rect">
            <a:avLst/>
          </a:prstGeom>
          <a:noFill/>
        </p:spPr>
        <p:txBody>
          <a:bodyPr wrap="square" lIns="0" rIns="0" tIns="0" bIns="0">
            <a:spAutoFit/>
          </a:bodyPr>
          <a:lstStyle/>
          <a:p>
            <a:pPr algn="l"/>
            <a:r>
              <a:rPr sz="1400" b="1" i="0">
                <a:solidFill>
                  <a:srgbClr val="0A1F44"/>
                </a:solidFill>
                <a:latin typeface="Calibri"/>
              </a:rPr>
              <a:t>How allowed network revenue is built (approx. shares):</a:t>
            </a:r>
          </a:p>
        </p:txBody>
      </p:sp>
      <p:sp>
        <p:nvSpPr>
          <p:cNvPr id="7" name="Rectangle 6"/>
          <p:cNvSpPr/>
          <p:nvPr/>
        </p:nvSpPr>
        <p:spPr>
          <a:xfrm>
            <a:off x="640080" y="2240280"/>
            <a:ext cx="6364224" cy="7772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40280"/>
            <a:ext cx="6364224" cy="777240"/>
          </a:xfrm>
          <a:prstGeom prst="rect">
            <a:avLst/>
          </a:prstGeom>
          <a:noFill/>
        </p:spPr>
        <p:txBody>
          <a:bodyPr wrap="square" lIns="0" rIns="0" tIns="0" bIns="0" anchor="ctr">
            <a:spAutoFit/>
          </a:bodyPr>
          <a:lstStyle/>
          <a:p>
            <a:pPr algn="ctr"/>
            <a:r>
              <a:rPr sz="1300" b="1" i="0">
                <a:solidFill>
                  <a:srgbClr val="FFFFFF"/>
                </a:solidFill>
                <a:latin typeface="Calibri"/>
              </a:rPr>
              <a:t>Return on capital  58%</a:t>
            </a:r>
          </a:p>
        </p:txBody>
      </p:sp>
      <p:sp>
        <p:nvSpPr>
          <p:cNvPr id="9" name="Rectangle 8"/>
          <p:cNvSpPr/>
          <p:nvPr/>
        </p:nvSpPr>
        <p:spPr>
          <a:xfrm>
            <a:off x="7004304" y="2240280"/>
            <a:ext cx="3182112" cy="77724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04304" y="2240280"/>
            <a:ext cx="3182112" cy="777240"/>
          </a:xfrm>
          <a:prstGeom prst="rect">
            <a:avLst/>
          </a:prstGeom>
          <a:noFill/>
        </p:spPr>
        <p:txBody>
          <a:bodyPr wrap="square" lIns="0" rIns="0" tIns="0" bIns="0" anchor="ctr">
            <a:spAutoFit/>
          </a:bodyPr>
          <a:lstStyle/>
          <a:p>
            <a:pPr algn="ctr"/>
            <a:r>
              <a:rPr sz="1300" b="1" i="0">
                <a:solidFill>
                  <a:srgbClr val="FFFFFF"/>
                </a:solidFill>
                <a:latin typeface="Calibri"/>
              </a:rPr>
              <a:t>Operating expenditure  29%</a:t>
            </a:r>
          </a:p>
        </p:txBody>
      </p:sp>
      <p:sp>
        <p:nvSpPr>
          <p:cNvPr id="11" name="Rectangle 10"/>
          <p:cNvSpPr/>
          <p:nvPr/>
        </p:nvSpPr>
        <p:spPr>
          <a:xfrm>
            <a:off x="10186416" y="2240280"/>
            <a:ext cx="658368" cy="777240"/>
          </a:xfrm>
          <a:prstGeom prst="rect">
            <a:avLst/>
          </a:prstGeom>
          <a:solidFill>
            <a:srgbClr val="5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844784" y="2240280"/>
            <a:ext cx="768096" cy="77724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79" y="3108960"/>
            <a:ext cx="3657600" cy="274320"/>
          </a:xfrm>
          <a:prstGeom prst="rect">
            <a:avLst/>
          </a:prstGeom>
          <a:noFill/>
        </p:spPr>
        <p:txBody>
          <a:bodyPr wrap="square" lIns="0" rIns="0" tIns="0" bIns="0">
            <a:spAutoFit/>
          </a:bodyPr>
          <a:lstStyle/>
          <a:p>
            <a:pPr algn="r"/>
            <a:r>
              <a:rPr sz="1000" b="0" i="1">
                <a:solidFill>
                  <a:srgbClr val="5B6378"/>
                </a:solidFill>
                <a:latin typeface="Calibri"/>
              </a:rPr>
              <a:t>Depreciation 6%   -   Adjustments + tax 7%</a:t>
            </a:r>
          </a:p>
        </p:txBody>
      </p:sp>
      <p:sp>
        <p:nvSpPr>
          <p:cNvPr id="14" name="TextBox 13"/>
          <p:cNvSpPr txBox="1"/>
          <p:nvPr/>
        </p:nvSpPr>
        <p:spPr>
          <a:xfrm>
            <a:off x="640080" y="3566160"/>
            <a:ext cx="10972800" cy="640080"/>
          </a:xfrm>
          <a:prstGeom prst="rect">
            <a:avLst/>
          </a:prstGeom>
          <a:noFill/>
        </p:spPr>
        <p:txBody>
          <a:bodyPr wrap="square" lIns="0" rIns="0" tIns="0" bIns="0">
            <a:spAutoFit/>
          </a:bodyPr>
          <a:lstStyle/>
          <a:p>
            <a:pPr algn="l">
              <a:lnSpc>
                <a:spcPct val="112000"/>
              </a:lnSpc>
            </a:pPr>
            <a:r>
              <a:rPr sz="1400" b="0" i="0">
                <a:solidFill>
                  <a:srgbClr val="0A1F44"/>
                </a:solidFill>
                <a:latin typeface="Calibri"/>
              </a:rPr>
              <a:t>Return on capital = the regulated asset base x the AER-allowed rate of return. It is the biggest block by far - which is why a rate-of-return reset or asset-base growth moves network costs more than anything else.</a:t>
            </a:r>
          </a:p>
        </p:txBody>
      </p:sp>
      <p:sp>
        <p:nvSpPr>
          <p:cNvPr id="15" name="Rectangle 14"/>
          <p:cNvSpPr/>
          <p:nvPr/>
        </p:nvSpPr>
        <p:spPr>
          <a:xfrm>
            <a:off x="640080" y="4754880"/>
            <a:ext cx="11064240" cy="914400"/>
          </a:xfrm>
          <a:prstGeom prst="rect">
            <a:avLst/>
          </a:prstGeom>
          <a:solidFill>
            <a:srgbClr val="E6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754880"/>
            <a:ext cx="82296" cy="9144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46320"/>
            <a:ext cx="10698480" cy="731520"/>
          </a:xfrm>
          <a:prstGeom prst="rect">
            <a:avLst/>
          </a:prstGeom>
          <a:noFill/>
        </p:spPr>
        <p:txBody>
          <a:bodyPr wrap="square" lIns="0" rIns="0" tIns="0" bIns="0" anchor="ctr">
            <a:spAutoFit/>
          </a:bodyPr>
          <a:lstStyle/>
          <a:p>
            <a:pPr algn="l"/>
            <a:r>
              <a:rPr sz="1350" b="0" i="0">
                <a:solidFill>
                  <a:srgbClr val="0A1F44"/>
                </a:solidFill>
                <a:latin typeface="Calibri"/>
              </a:rPr>
              <a:t>AER's own attribution: ~46-50% of the latest distribution increases is higher inflation and interest rates - SA Power Networks 46%, Energex ~50%.</a:t>
            </a:r>
          </a:p>
        </p:txBody>
      </p:sp>
      <p:sp>
        <p:nvSpPr>
          <p:cNvPr id="18" name="TextBox 17"/>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Building-block shares: Ausgrid 2024-29 draft decision (indicative); final differs slightly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NETWORK - EVERY RESET</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Every DMO-region network just reset</a:t>
            </a:r>
          </a:p>
        </p:txBody>
      </p:sp>
      <p:sp>
        <p:nvSpPr>
          <p:cNvPr id="6" name="TextBox 5"/>
          <p:cNvSpPr txBox="1"/>
          <p:nvPr/>
        </p:nvSpPr>
        <p:spPr>
          <a:xfrm>
            <a:off x="640080" y="1783080"/>
            <a:ext cx="10972800" cy="274320"/>
          </a:xfrm>
          <a:prstGeom prst="rect">
            <a:avLst/>
          </a:prstGeom>
          <a:noFill/>
        </p:spPr>
        <p:txBody>
          <a:bodyPr wrap="square" lIns="0" rIns="0" tIns="0" bIns="0">
            <a:spAutoFit/>
          </a:bodyPr>
          <a:lstStyle/>
          <a:p>
            <a:pPr algn="l"/>
            <a:r>
              <a:rPr sz="1350" b="0" i="1">
                <a:solidFill>
                  <a:srgbClr val="5B6378"/>
                </a:solidFill>
                <a:latin typeface="Calibri"/>
              </a:rPr>
              <a:t>Five-year allowed revenue the AER set for each network serving the DMO regions:</a:t>
            </a:r>
          </a:p>
        </p:txBody>
      </p:sp>
      <p:sp>
        <p:nvSpPr>
          <p:cNvPr id="7" name="Rectangle 6"/>
          <p:cNvSpPr/>
          <p:nvPr/>
        </p:nvSpPr>
        <p:spPr>
          <a:xfrm>
            <a:off x="640080" y="2286000"/>
            <a:ext cx="2743200" cy="3657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2286000"/>
            <a:ext cx="2633472" cy="365760"/>
          </a:xfrm>
          <a:prstGeom prst="rect">
            <a:avLst/>
          </a:prstGeom>
          <a:noFill/>
        </p:spPr>
        <p:txBody>
          <a:bodyPr wrap="square" lIns="0" rIns="0" tIns="0" bIns="0" anchor="ctr">
            <a:spAutoFit/>
          </a:bodyPr>
          <a:lstStyle/>
          <a:p>
            <a:pPr algn="l"/>
            <a:r>
              <a:rPr sz="1100" b="1" i="0">
                <a:solidFill>
                  <a:srgbClr val="FFFFFF"/>
                </a:solidFill>
                <a:latin typeface="Calibri"/>
              </a:rPr>
              <a:t>Distribution</a:t>
            </a:r>
          </a:p>
        </p:txBody>
      </p:sp>
      <p:sp>
        <p:nvSpPr>
          <p:cNvPr id="9" name="Rectangle 8"/>
          <p:cNvSpPr/>
          <p:nvPr/>
        </p:nvSpPr>
        <p:spPr>
          <a:xfrm>
            <a:off x="3383280" y="2286000"/>
            <a:ext cx="1097280" cy="3657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2286000"/>
            <a:ext cx="987552" cy="365760"/>
          </a:xfrm>
          <a:prstGeom prst="rect">
            <a:avLst/>
          </a:prstGeom>
          <a:noFill/>
        </p:spPr>
        <p:txBody>
          <a:bodyPr wrap="square" lIns="0" rIns="0" tIns="0" bIns="0" anchor="ctr">
            <a:spAutoFit/>
          </a:bodyPr>
          <a:lstStyle/>
          <a:p>
            <a:pPr algn="l"/>
            <a:r>
              <a:rPr sz="1100" b="1" i="0">
                <a:solidFill>
                  <a:srgbClr val="FFFFFF"/>
                </a:solidFill>
                <a:latin typeface="Calibri"/>
              </a:rPr>
              <a:t>Period</a:t>
            </a:r>
          </a:p>
        </p:txBody>
      </p:sp>
      <p:sp>
        <p:nvSpPr>
          <p:cNvPr id="11" name="Rectangle 10"/>
          <p:cNvSpPr/>
          <p:nvPr/>
        </p:nvSpPr>
        <p:spPr>
          <a:xfrm>
            <a:off x="4480560" y="2286000"/>
            <a:ext cx="1280160" cy="3657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2286000"/>
            <a:ext cx="1170431" cy="365760"/>
          </a:xfrm>
          <a:prstGeom prst="rect">
            <a:avLst/>
          </a:prstGeom>
          <a:noFill/>
        </p:spPr>
        <p:txBody>
          <a:bodyPr wrap="square" lIns="0" rIns="0" tIns="0" bIns="0" anchor="ctr">
            <a:spAutoFit/>
          </a:bodyPr>
          <a:lstStyle/>
          <a:p>
            <a:pPr algn="l"/>
            <a:r>
              <a:rPr sz="1100" b="1" i="0">
                <a:solidFill>
                  <a:srgbClr val="FFFFFF"/>
                </a:solidFill>
                <a:latin typeface="Calibri"/>
              </a:rPr>
              <a:t>Revenue</a:t>
            </a:r>
          </a:p>
        </p:txBody>
      </p:sp>
      <p:sp>
        <p:nvSpPr>
          <p:cNvPr id="13" name="Rectangle 12"/>
          <p:cNvSpPr/>
          <p:nvPr/>
        </p:nvSpPr>
        <p:spPr>
          <a:xfrm>
            <a:off x="5760720" y="2286000"/>
            <a:ext cx="1280160" cy="3657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3872" y="2286000"/>
            <a:ext cx="1170431" cy="365760"/>
          </a:xfrm>
          <a:prstGeom prst="rect">
            <a:avLst/>
          </a:prstGeom>
          <a:noFill/>
        </p:spPr>
        <p:txBody>
          <a:bodyPr wrap="square" lIns="0" rIns="0" tIns="0" bIns="0" anchor="ctr">
            <a:spAutoFit/>
          </a:bodyPr>
          <a:lstStyle/>
          <a:p>
            <a:pPr algn="l"/>
            <a:r>
              <a:rPr sz="1100" b="1" i="0">
                <a:solidFill>
                  <a:srgbClr val="FFFFFF"/>
                </a:solidFill>
                <a:latin typeface="Calibri"/>
              </a:rPr>
              <a:t>vs prior</a:t>
            </a:r>
          </a:p>
        </p:txBody>
      </p:sp>
      <p:sp>
        <p:nvSpPr>
          <p:cNvPr id="15" name="Rectangle 14"/>
          <p:cNvSpPr/>
          <p:nvPr/>
        </p:nvSpPr>
        <p:spPr>
          <a:xfrm>
            <a:off x="640080" y="2651760"/>
            <a:ext cx="27432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1" y="2651760"/>
            <a:ext cx="2633472" cy="365760"/>
          </a:xfrm>
          <a:prstGeom prst="rect">
            <a:avLst/>
          </a:prstGeom>
          <a:noFill/>
        </p:spPr>
        <p:txBody>
          <a:bodyPr wrap="square" lIns="0" rIns="0" tIns="0" bIns="0" anchor="ctr">
            <a:spAutoFit/>
          </a:bodyPr>
          <a:lstStyle/>
          <a:p>
            <a:pPr algn="l"/>
            <a:r>
              <a:rPr sz="1100" b="0" i="0">
                <a:solidFill>
                  <a:srgbClr val="1B2A3A"/>
                </a:solidFill>
                <a:latin typeface="Calibri"/>
              </a:rPr>
              <a:t>SA Power Networks</a:t>
            </a:r>
          </a:p>
        </p:txBody>
      </p:sp>
      <p:sp>
        <p:nvSpPr>
          <p:cNvPr id="17" name="Rectangle 16"/>
          <p:cNvSpPr/>
          <p:nvPr/>
        </p:nvSpPr>
        <p:spPr>
          <a:xfrm>
            <a:off x="3383280" y="2651760"/>
            <a:ext cx="10972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2651760"/>
            <a:ext cx="987552" cy="365760"/>
          </a:xfrm>
          <a:prstGeom prst="rect">
            <a:avLst/>
          </a:prstGeom>
          <a:noFill/>
        </p:spPr>
        <p:txBody>
          <a:bodyPr wrap="square" lIns="0" rIns="0" tIns="0" bIns="0" anchor="ctr">
            <a:spAutoFit/>
          </a:bodyPr>
          <a:lstStyle/>
          <a:p>
            <a:pPr algn="l"/>
            <a:r>
              <a:rPr sz="1100" b="0" i="0">
                <a:solidFill>
                  <a:srgbClr val="1B2A3A"/>
                </a:solidFill>
                <a:latin typeface="Calibri"/>
              </a:rPr>
              <a:t>25-30</a:t>
            </a:r>
          </a:p>
        </p:txBody>
      </p:sp>
      <p:sp>
        <p:nvSpPr>
          <p:cNvPr id="19" name="Rectangle 18"/>
          <p:cNvSpPr/>
          <p:nvPr/>
        </p:nvSpPr>
        <p:spPr>
          <a:xfrm>
            <a:off x="4480560" y="265176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2651760"/>
            <a:ext cx="1170431" cy="365760"/>
          </a:xfrm>
          <a:prstGeom prst="rect">
            <a:avLst/>
          </a:prstGeom>
          <a:noFill/>
        </p:spPr>
        <p:txBody>
          <a:bodyPr wrap="square" lIns="0" rIns="0" tIns="0" bIns="0" anchor="ctr">
            <a:spAutoFit/>
          </a:bodyPr>
          <a:lstStyle/>
          <a:p>
            <a:pPr algn="l"/>
            <a:r>
              <a:rPr sz="1100" b="0" i="0">
                <a:solidFill>
                  <a:srgbClr val="1B2A3A"/>
                </a:solidFill>
                <a:latin typeface="Calibri"/>
              </a:rPr>
              <a:t>$5.2bn</a:t>
            </a:r>
          </a:p>
        </p:txBody>
      </p:sp>
      <p:sp>
        <p:nvSpPr>
          <p:cNvPr id="21" name="Rectangle 20"/>
          <p:cNvSpPr/>
          <p:nvPr/>
        </p:nvSpPr>
        <p:spPr>
          <a:xfrm>
            <a:off x="5760720" y="265176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33872" y="2651760"/>
            <a:ext cx="1170431" cy="365760"/>
          </a:xfrm>
          <a:prstGeom prst="rect">
            <a:avLst/>
          </a:prstGeom>
          <a:noFill/>
        </p:spPr>
        <p:txBody>
          <a:bodyPr wrap="square" lIns="0" rIns="0" tIns="0" bIns="0" anchor="ctr">
            <a:spAutoFit/>
          </a:bodyPr>
          <a:lstStyle/>
          <a:p>
            <a:pPr algn="l"/>
            <a:r>
              <a:rPr sz="1100" b="1" i="0">
                <a:solidFill>
                  <a:srgbClr val="9A7D00"/>
                </a:solidFill>
                <a:latin typeface="Calibri"/>
              </a:rPr>
              <a:t>+33%</a:t>
            </a:r>
          </a:p>
        </p:txBody>
      </p:sp>
      <p:sp>
        <p:nvSpPr>
          <p:cNvPr id="23" name="Rectangle 22"/>
          <p:cNvSpPr/>
          <p:nvPr/>
        </p:nvSpPr>
        <p:spPr>
          <a:xfrm>
            <a:off x="640080" y="3017520"/>
            <a:ext cx="27432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1" y="3017520"/>
            <a:ext cx="2633472" cy="365760"/>
          </a:xfrm>
          <a:prstGeom prst="rect">
            <a:avLst/>
          </a:prstGeom>
          <a:noFill/>
        </p:spPr>
        <p:txBody>
          <a:bodyPr wrap="square" lIns="0" rIns="0" tIns="0" bIns="0" anchor="ctr">
            <a:spAutoFit/>
          </a:bodyPr>
          <a:lstStyle/>
          <a:p>
            <a:pPr algn="l"/>
            <a:r>
              <a:rPr sz="1100" b="0" i="0">
                <a:solidFill>
                  <a:srgbClr val="1B2A3A"/>
                </a:solidFill>
                <a:latin typeface="Calibri"/>
              </a:rPr>
              <a:t>Energex (SE QLD)</a:t>
            </a:r>
          </a:p>
        </p:txBody>
      </p:sp>
      <p:sp>
        <p:nvSpPr>
          <p:cNvPr id="25" name="Rectangle 24"/>
          <p:cNvSpPr/>
          <p:nvPr/>
        </p:nvSpPr>
        <p:spPr>
          <a:xfrm>
            <a:off x="3383280" y="3017520"/>
            <a:ext cx="10972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56432" y="3017520"/>
            <a:ext cx="987552" cy="365760"/>
          </a:xfrm>
          <a:prstGeom prst="rect">
            <a:avLst/>
          </a:prstGeom>
          <a:noFill/>
        </p:spPr>
        <p:txBody>
          <a:bodyPr wrap="square" lIns="0" rIns="0" tIns="0" bIns="0" anchor="ctr">
            <a:spAutoFit/>
          </a:bodyPr>
          <a:lstStyle/>
          <a:p>
            <a:pPr algn="l"/>
            <a:r>
              <a:rPr sz="1100" b="0" i="0">
                <a:solidFill>
                  <a:srgbClr val="1B2A3A"/>
                </a:solidFill>
                <a:latin typeface="Calibri"/>
              </a:rPr>
              <a:t>25-30</a:t>
            </a:r>
          </a:p>
        </p:txBody>
      </p:sp>
      <p:sp>
        <p:nvSpPr>
          <p:cNvPr id="27" name="Rectangle 26"/>
          <p:cNvSpPr/>
          <p:nvPr/>
        </p:nvSpPr>
        <p:spPr>
          <a:xfrm>
            <a:off x="4480560" y="301752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3017520"/>
            <a:ext cx="1170431" cy="365760"/>
          </a:xfrm>
          <a:prstGeom prst="rect">
            <a:avLst/>
          </a:prstGeom>
          <a:noFill/>
        </p:spPr>
        <p:txBody>
          <a:bodyPr wrap="square" lIns="0" rIns="0" tIns="0" bIns="0" anchor="ctr">
            <a:spAutoFit/>
          </a:bodyPr>
          <a:lstStyle/>
          <a:p>
            <a:pPr algn="l"/>
            <a:r>
              <a:rPr sz="1100" b="0" i="0">
                <a:solidFill>
                  <a:srgbClr val="1B2A3A"/>
                </a:solidFill>
                <a:latin typeface="Calibri"/>
              </a:rPr>
              <a:t>$9.0bn</a:t>
            </a:r>
          </a:p>
        </p:txBody>
      </p:sp>
      <p:sp>
        <p:nvSpPr>
          <p:cNvPr id="29" name="Rectangle 28"/>
          <p:cNvSpPr/>
          <p:nvPr/>
        </p:nvSpPr>
        <p:spPr>
          <a:xfrm>
            <a:off x="5760720" y="301752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33872" y="3017520"/>
            <a:ext cx="1170431" cy="365760"/>
          </a:xfrm>
          <a:prstGeom prst="rect">
            <a:avLst/>
          </a:prstGeom>
          <a:noFill/>
        </p:spPr>
        <p:txBody>
          <a:bodyPr wrap="square" lIns="0" rIns="0" tIns="0" bIns="0" anchor="ctr">
            <a:spAutoFit/>
          </a:bodyPr>
          <a:lstStyle/>
          <a:p>
            <a:pPr algn="l"/>
            <a:r>
              <a:rPr sz="1100" b="1" i="0">
                <a:solidFill>
                  <a:srgbClr val="9A7D00"/>
                </a:solidFill>
                <a:latin typeface="Calibri"/>
              </a:rPr>
              <a:t>+47%</a:t>
            </a:r>
          </a:p>
        </p:txBody>
      </p:sp>
      <p:sp>
        <p:nvSpPr>
          <p:cNvPr id="31" name="Rectangle 30"/>
          <p:cNvSpPr/>
          <p:nvPr/>
        </p:nvSpPr>
        <p:spPr>
          <a:xfrm>
            <a:off x="640080" y="3383280"/>
            <a:ext cx="27432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1" y="3383280"/>
            <a:ext cx="2633472" cy="365760"/>
          </a:xfrm>
          <a:prstGeom prst="rect">
            <a:avLst/>
          </a:prstGeom>
          <a:noFill/>
        </p:spPr>
        <p:txBody>
          <a:bodyPr wrap="square" lIns="0" rIns="0" tIns="0" bIns="0" anchor="ctr">
            <a:spAutoFit/>
          </a:bodyPr>
          <a:lstStyle/>
          <a:p>
            <a:pPr algn="l"/>
            <a:r>
              <a:rPr sz="1100" b="0" i="0">
                <a:solidFill>
                  <a:srgbClr val="1B2A3A"/>
                </a:solidFill>
                <a:latin typeface="Calibri"/>
              </a:rPr>
              <a:t>Ausgrid (NSW)</a:t>
            </a:r>
          </a:p>
        </p:txBody>
      </p:sp>
      <p:sp>
        <p:nvSpPr>
          <p:cNvPr id="33" name="Rectangle 32"/>
          <p:cNvSpPr/>
          <p:nvPr/>
        </p:nvSpPr>
        <p:spPr>
          <a:xfrm>
            <a:off x="3383280" y="3383280"/>
            <a:ext cx="10972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6432" y="3383280"/>
            <a:ext cx="987552" cy="365760"/>
          </a:xfrm>
          <a:prstGeom prst="rect">
            <a:avLst/>
          </a:prstGeom>
          <a:noFill/>
        </p:spPr>
        <p:txBody>
          <a:bodyPr wrap="square" lIns="0" rIns="0" tIns="0" bIns="0" anchor="ctr">
            <a:spAutoFit/>
          </a:bodyPr>
          <a:lstStyle/>
          <a:p>
            <a:pPr algn="l"/>
            <a:r>
              <a:rPr sz="1100" b="0" i="0">
                <a:solidFill>
                  <a:srgbClr val="1B2A3A"/>
                </a:solidFill>
                <a:latin typeface="Calibri"/>
              </a:rPr>
              <a:t>24-29</a:t>
            </a:r>
          </a:p>
        </p:txBody>
      </p:sp>
      <p:sp>
        <p:nvSpPr>
          <p:cNvPr id="35" name="Rectangle 34"/>
          <p:cNvSpPr/>
          <p:nvPr/>
        </p:nvSpPr>
        <p:spPr>
          <a:xfrm>
            <a:off x="4480560" y="338328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53712" y="3383280"/>
            <a:ext cx="1170431" cy="365760"/>
          </a:xfrm>
          <a:prstGeom prst="rect">
            <a:avLst/>
          </a:prstGeom>
          <a:noFill/>
        </p:spPr>
        <p:txBody>
          <a:bodyPr wrap="square" lIns="0" rIns="0" tIns="0" bIns="0" anchor="ctr">
            <a:spAutoFit/>
          </a:bodyPr>
          <a:lstStyle/>
          <a:p>
            <a:pPr algn="l"/>
            <a:r>
              <a:rPr sz="1100" b="0" i="0">
                <a:solidFill>
                  <a:srgbClr val="1B2A3A"/>
                </a:solidFill>
                <a:latin typeface="Calibri"/>
              </a:rPr>
              <a:t>$9.6bn</a:t>
            </a:r>
          </a:p>
        </p:txBody>
      </p:sp>
      <p:sp>
        <p:nvSpPr>
          <p:cNvPr id="37" name="Rectangle 36"/>
          <p:cNvSpPr/>
          <p:nvPr/>
        </p:nvSpPr>
        <p:spPr>
          <a:xfrm>
            <a:off x="5760720" y="338328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33872" y="3383280"/>
            <a:ext cx="1170431" cy="365760"/>
          </a:xfrm>
          <a:prstGeom prst="rect">
            <a:avLst/>
          </a:prstGeom>
          <a:noFill/>
        </p:spPr>
        <p:txBody>
          <a:bodyPr wrap="square" lIns="0" rIns="0" tIns="0" bIns="0" anchor="ctr">
            <a:spAutoFit/>
          </a:bodyPr>
          <a:lstStyle/>
          <a:p>
            <a:pPr algn="l"/>
            <a:r>
              <a:rPr sz="1100" b="0" i="0">
                <a:solidFill>
                  <a:srgbClr val="5B6378"/>
                </a:solidFill>
                <a:latin typeface="Calibri"/>
              </a:rPr>
              <a:t>~+5%/yr*</a:t>
            </a:r>
          </a:p>
        </p:txBody>
      </p:sp>
      <p:sp>
        <p:nvSpPr>
          <p:cNvPr id="39" name="Rectangle 38"/>
          <p:cNvSpPr/>
          <p:nvPr/>
        </p:nvSpPr>
        <p:spPr>
          <a:xfrm>
            <a:off x="640080" y="3749039"/>
            <a:ext cx="27432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1" y="3749039"/>
            <a:ext cx="2633472" cy="365760"/>
          </a:xfrm>
          <a:prstGeom prst="rect">
            <a:avLst/>
          </a:prstGeom>
          <a:noFill/>
        </p:spPr>
        <p:txBody>
          <a:bodyPr wrap="square" lIns="0" rIns="0" tIns="0" bIns="0" anchor="ctr">
            <a:spAutoFit/>
          </a:bodyPr>
          <a:lstStyle/>
          <a:p>
            <a:pPr algn="l"/>
            <a:r>
              <a:rPr sz="1100" b="0" i="0">
                <a:solidFill>
                  <a:srgbClr val="1B2A3A"/>
                </a:solidFill>
                <a:latin typeface="Calibri"/>
              </a:rPr>
              <a:t>Endeavour (NSW)</a:t>
            </a:r>
          </a:p>
        </p:txBody>
      </p:sp>
      <p:sp>
        <p:nvSpPr>
          <p:cNvPr id="41" name="Rectangle 40"/>
          <p:cNvSpPr/>
          <p:nvPr/>
        </p:nvSpPr>
        <p:spPr>
          <a:xfrm>
            <a:off x="3383280" y="3749039"/>
            <a:ext cx="10972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56432" y="3749039"/>
            <a:ext cx="987552" cy="365760"/>
          </a:xfrm>
          <a:prstGeom prst="rect">
            <a:avLst/>
          </a:prstGeom>
          <a:noFill/>
        </p:spPr>
        <p:txBody>
          <a:bodyPr wrap="square" lIns="0" rIns="0" tIns="0" bIns="0" anchor="ctr">
            <a:spAutoFit/>
          </a:bodyPr>
          <a:lstStyle/>
          <a:p>
            <a:pPr algn="l"/>
            <a:r>
              <a:rPr sz="1100" b="0" i="0">
                <a:solidFill>
                  <a:srgbClr val="1B2A3A"/>
                </a:solidFill>
                <a:latin typeface="Calibri"/>
              </a:rPr>
              <a:t>24-29</a:t>
            </a:r>
          </a:p>
        </p:txBody>
      </p:sp>
      <p:sp>
        <p:nvSpPr>
          <p:cNvPr id="43" name="Rectangle 42"/>
          <p:cNvSpPr/>
          <p:nvPr/>
        </p:nvSpPr>
        <p:spPr>
          <a:xfrm>
            <a:off x="4480560" y="3749039"/>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53712" y="3749039"/>
            <a:ext cx="1170431" cy="365760"/>
          </a:xfrm>
          <a:prstGeom prst="rect">
            <a:avLst/>
          </a:prstGeom>
          <a:noFill/>
        </p:spPr>
        <p:txBody>
          <a:bodyPr wrap="square" lIns="0" rIns="0" tIns="0" bIns="0" anchor="ctr">
            <a:spAutoFit/>
          </a:bodyPr>
          <a:lstStyle/>
          <a:p>
            <a:pPr algn="l"/>
            <a:r>
              <a:rPr sz="1100" b="0" i="0">
                <a:solidFill>
                  <a:srgbClr val="1B2A3A"/>
                </a:solidFill>
                <a:latin typeface="Calibri"/>
              </a:rPr>
              <a:t>$5.6bn</a:t>
            </a:r>
          </a:p>
        </p:txBody>
      </p:sp>
      <p:sp>
        <p:nvSpPr>
          <p:cNvPr id="45" name="Rectangle 44"/>
          <p:cNvSpPr/>
          <p:nvPr/>
        </p:nvSpPr>
        <p:spPr>
          <a:xfrm>
            <a:off x="5760720" y="3749039"/>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33872" y="3749039"/>
            <a:ext cx="1170431" cy="365760"/>
          </a:xfrm>
          <a:prstGeom prst="rect">
            <a:avLst/>
          </a:prstGeom>
          <a:noFill/>
        </p:spPr>
        <p:txBody>
          <a:bodyPr wrap="square" lIns="0" rIns="0" tIns="0" bIns="0" anchor="ctr">
            <a:spAutoFit/>
          </a:bodyPr>
          <a:lstStyle/>
          <a:p>
            <a:pPr algn="l"/>
            <a:r>
              <a:rPr sz="1100" b="0" i="0">
                <a:solidFill>
                  <a:srgbClr val="5B6378"/>
                </a:solidFill>
                <a:latin typeface="Calibri"/>
              </a:rPr>
              <a:t>n/p</a:t>
            </a:r>
          </a:p>
        </p:txBody>
      </p:sp>
      <p:sp>
        <p:nvSpPr>
          <p:cNvPr id="47" name="Rectangle 46"/>
          <p:cNvSpPr/>
          <p:nvPr/>
        </p:nvSpPr>
        <p:spPr>
          <a:xfrm>
            <a:off x="640080" y="4114800"/>
            <a:ext cx="27432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1" y="4114800"/>
            <a:ext cx="2633472" cy="365760"/>
          </a:xfrm>
          <a:prstGeom prst="rect">
            <a:avLst/>
          </a:prstGeom>
          <a:noFill/>
        </p:spPr>
        <p:txBody>
          <a:bodyPr wrap="square" lIns="0" rIns="0" tIns="0" bIns="0" anchor="ctr">
            <a:spAutoFit/>
          </a:bodyPr>
          <a:lstStyle/>
          <a:p>
            <a:pPr algn="l"/>
            <a:r>
              <a:rPr sz="1100" b="0" i="0">
                <a:solidFill>
                  <a:srgbClr val="1B2A3A"/>
                </a:solidFill>
                <a:latin typeface="Calibri"/>
              </a:rPr>
              <a:t>Essential (NSW)</a:t>
            </a:r>
          </a:p>
        </p:txBody>
      </p:sp>
      <p:sp>
        <p:nvSpPr>
          <p:cNvPr id="49" name="Rectangle 48"/>
          <p:cNvSpPr/>
          <p:nvPr/>
        </p:nvSpPr>
        <p:spPr>
          <a:xfrm>
            <a:off x="3383280" y="4114800"/>
            <a:ext cx="10972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56432" y="4114800"/>
            <a:ext cx="987552" cy="365760"/>
          </a:xfrm>
          <a:prstGeom prst="rect">
            <a:avLst/>
          </a:prstGeom>
          <a:noFill/>
        </p:spPr>
        <p:txBody>
          <a:bodyPr wrap="square" lIns="0" rIns="0" tIns="0" bIns="0" anchor="ctr">
            <a:spAutoFit/>
          </a:bodyPr>
          <a:lstStyle/>
          <a:p>
            <a:pPr algn="l"/>
            <a:r>
              <a:rPr sz="1100" b="0" i="0">
                <a:solidFill>
                  <a:srgbClr val="1B2A3A"/>
                </a:solidFill>
                <a:latin typeface="Calibri"/>
              </a:rPr>
              <a:t>24-29</a:t>
            </a:r>
          </a:p>
        </p:txBody>
      </p:sp>
      <p:sp>
        <p:nvSpPr>
          <p:cNvPr id="51" name="Rectangle 50"/>
          <p:cNvSpPr/>
          <p:nvPr/>
        </p:nvSpPr>
        <p:spPr>
          <a:xfrm>
            <a:off x="4480560" y="411480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53712" y="4114800"/>
            <a:ext cx="1170431" cy="365760"/>
          </a:xfrm>
          <a:prstGeom prst="rect">
            <a:avLst/>
          </a:prstGeom>
          <a:noFill/>
        </p:spPr>
        <p:txBody>
          <a:bodyPr wrap="square" lIns="0" rIns="0" tIns="0" bIns="0" anchor="ctr">
            <a:spAutoFit/>
          </a:bodyPr>
          <a:lstStyle/>
          <a:p>
            <a:pPr algn="l"/>
            <a:r>
              <a:rPr sz="1100" b="0" i="0">
                <a:solidFill>
                  <a:srgbClr val="1B2A3A"/>
                </a:solidFill>
                <a:latin typeface="Calibri"/>
              </a:rPr>
              <a:t>$6.2bn</a:t>
            </a:r>
          </a:p>
        </p:txBody>
      </p:sp>
      <p:sp>
        <p:nvSpPr>
          <p:cNvPr id="53" name="Rectangle 52"/>
          <p:cNvSpPr/>
          <p:nvPr/>
        </p:nvSpPr>
        <p:spPr>
          <a:xfrm>
            <a:off x="5760720" y="4114800"/>
            <a:ext cx="128016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33872" y="4114800"/>
            <a:ext cx="1170431" cy="365760"/>
          </a:xfrm>
          <a:prstGeom prst="rect">
            <a:avLst/>
          </a:prstGeom>
          <a:noFill/>
        </p:spPr>
        <p:txBody>
          <a:bodyPr wrap="square" lIns="0" rIns="0" tIns="0" bIns="0" anchor="ctr">
            <a:spAutoFit/>
          </a:bodyPr>
          <a:lstStyle/>
          <a:p>
            <a:pPr algn="l"/>
            <a:r>
              <a:rPr sz="1100" b="0" i="0">
                <a:solidFill>
                  <a:srgbClr val="5B6378"/>
                </a:solidFill>
                <a:latin typeface="Calibri"/>
              </a:rPr>
              <a:t>n/p</a:t>
            </a:r>
          </a:p>
        </p:txBody>
      </p:sp>
      <p:sp>
        <p:nvSpPr>
          <p:cNvPr id="55" name="Rectangle 54"/>
          <p:cNvSpPr/>
          <p:nvPr/>
        </p:nvSpPr>
        <p:spPr>
          <a:xfrm>
            <a:off x="7315200" y="2286000"/>
            <a:ext cx="2468880" cy="36576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8352" y="2286000"/>
            <a:ext cx="2359152" cy="365760"/>
          </a:xfrm>
          <a:prstGeom prst="rect">
            <a:avLst/>
          </a:prstGeom>
          <a:noFill/>
        </p:spPr>
        <p:txBody>
          <a:bodyPr wrap="square" lIns="0" rIns="0" tIns="0" bIns="0" anchor="ctr">
            <a:spAutoFit/>
          </a:bodyPr>
          <a:lstStyle/>
          <a:p>
            <a:pPr algn="l"/>
            <a:r>
              <a:rPr sz="1100" b="1" i="0">
                <a:solidFill>
                  <a:srgbClr val="FFFFFF"/>
                </a:solidFill>
                <a:latin typeface="Calibri"/>
              </a:rPr>
              <a:t>Transmission charges</a:t>
            </a:r>
          </a:p>
        </p:txBody>
      </p:sp>
      <p:sp>
        <p:nvSpPr>
          <p:cNvPr id="57" name="Rectangle 56"/>
          <p:cNvSpPr/>
          <p:nvPr/>
        </p:nvSpPr>
        <p:spPr>
          <a:xfrm>
            <a:off x="9784080" y="2286000"/>
            <a:ext cx="914400" cy="36576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57232" y="2286000"/>
            <a:ext cx="804672" cy="365760"/>
          </a:xfrm>
          <a:prstGeom prst="rect">
            <a:avLst/>
          </a:prstGeom>
          <a:noFill/>
        </p:spPr>
        <p:txBody>
          <a:bodyPr wrap="square" lIns="0" rIns="0" tIns="0" bIns="0" anchor="ctr">
            <a:spAutoFit/>
          </a:bodyPr>
          <a:lstStyle/>
          <a:p>
            <a:pPr algn="l"/>
            <a:r>
              <a:rPr sz="1100" b="1" i="0">
                <a:solidFill>
                  <a:srgbClr val="FFFFFF"/>
                </a:solidFill>
                <a:latin typeface="Calibri"/>
              </a:rPr>
              <a:t>Period</a:t>
            </a:r>
          </a:p>
        </p:txBody>
      </p:sp>
      <p:sp>
        <p:nvSpPr>
          <p:cNvPr id="59" name="Rectangle 58"/>
          <p:cNvSpPr/>
          <p:nvPr/>
        </p:nvSpPr>
        <p:spPr>
          <a:xfrm>
            <a:off x="10698480" y="2286000"/>
            <a:ext cx="1005840" cy="36576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771632" y="2286000"/>
            <a:ext cx="896112" cy="365760"/>
          </a:xfrm>
          <a:prstGeom prst="rect">
            <a:avLst/>
          </a:prstGeom>
          <a:noFill/>
        </p:spPr>
        <p:txBody>
          <a:bodyPr wrap="square" lIns="0" rIns="0" tIns="0" bIns="0" anchor="ctr">
            <a:spAutoFit/>
          </a:bodyPr>
          <a:lstStyle/>
          <a:p>
            <a:pPr algn="l"/>
            <a:r>
              <a:rPr sz="1100" b="1" i="0">
                <a:solidFill>
                  <a:srgbClr val="FFFFFF"/>
                </a:solidFill>
                <a:latin typeface="Calibri"/>
              </a:rPr>
              <a:t>Revenue</a:t>
            </a:r>
          </a:p>
        </p:txBody>
      </p:sp>
      <p:sp>
        <p:nvSpPr>
          <p:cNvPr id="61" name="Rectangle 60"/>
          <p:cNvSpPr/>
          <p:nvPr/>
        </p:nvSpPr>
        <p:spPr>
          <a:xfrm>
            <a:off x="7315200" y="2651760"/>
            <a:ext cx="24688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88352" y="2651760"/>
            <a:ext cx="2359152" cy="365760"/>
          </a:xfrm>
          <a:prstGeom prst="rect">
            <a:avLst/>
          </a:prstGeom>
          <a:noFill/>
        </p:spPr>
        <p:txBody>
          <a:bodyPr wrap="square" lIns="0" rIns="0" tIns="0" bIns="0" anchor="ctr">
            <a:spAutoFit/>
          </a:bodyPr>
          <a:lstStyle/>
          <a:p>
            <a:pPr algn="l"/>
            <a:r>
              <a:rPr sz="1100" b="0" i="0">
                <a:solidFill>
                  <a:srgbClr val="1B2A3A"/>
                </a:solidFill>
                <a:latin typeface="Calibri"/>
              </a:rPr>
              <a:t>TransGrid (NSW)</a:t>
            </a:r>
          </a:p>
        </p:txBody>
      </p:sp>
      <p:sp>
        <p:nvSpPr>
          <p:cNvPr id="63" name="Rectangle 62"/>
          <p:cNvSpPr/>
          <p:nvPr/>
        </p:nvSpPr>
        <p:spPr>
          <a:xfrm>
            <a:off x="9784080" y="2651760"/>
            <a:ext cx="9144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57232" y="2651760"/>
            <a:ext cx="804672" cy="365760"/>
          </a:xfrm>
          <a:prstGeom prst="rect">
            <a:avLst/>
          </a:prstGeom>
          <a:noFill/>
        </p:spPr>
        <p:txBody>
          <a:bodyPr wrap="square" lIns="0" rIns="0" tIns="0" bIns="0" anchor="ctr">
            <a:spAutoFit/>
          </a:bodyPr>
          <a:lstStyle/>
          <a:p>
            <a:pPr algn="l"/>
            <a:r>
              <a:rPr sz="1100" b="0" i="0">
                <a:solidFill>
                  <a:srgbClr val="1B2A3A"/>
                </a:solidFill>
                <a:latin typeface="Calibri"/>
              </a:rPr>
              <a:t>23-28</a:t>
            </a:r>
          </a:p>
        </p:txBody>
      </p:sp>
      <p:sp>
        <p:nvSpPr>
          <p:cNvPr id="65" name="Rectangle 64"/>
          <p:cNvSpPr/>
          <p:nvPr/>
        </p:nvSpPr>
        <p:spPr>
          <a:xfrm>
            <a:off x="10698480" y="2651760"/>
            <a:ext cx="100584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771632" y="2651760"/>
            <a:ext cx="896112" cy="365760"/>
          </a:xfrm>
          <a:prstGeom prst="rect">
            <a:avLst/>
          </a:prstGeom>
          <a:noFill/>
        </p:spPr>
        <p:txBody>
          <a:bodyPr wrap="square" lIns="0" rIns="0" tIns="0" bIns="0" anchor="ctr">
            <a:spAutoFit/>
          </a:bodyPr>
          <a:lstStyle/>
          <a:p>
            <a:pPr algn="l"/>
            <a:r>
              <a:rPr sz="1100" b="0" i="0">
                <a:solidFill>
                  <a:srgbClr val="1B2A3A"/>
                </a:solidFill>
                <a:latin typeface="Calibri"/>
              </a:rPr>
              <a:t>$4.9bn</a:t>
            </a:r>
          </a:p>
        </p:txBody>
      </p:sp>
      <p:sp>
        <p:nvSpPr>
          <p:cNvPr id="67" name="Rectangle 66"/>
          <p:cNvSpPr/>
          <p:nvPr/>
        </p:nvSpPr>
        <p:spPr>
          <a:xfrm>
            <a:off x="7315200" y="3017520"/>
            <a:ext cx="24688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88352" y="3017520"/>
            <a:ext cx="2359152" cy="365760"/>
          </a:xfrm>
          <a:prstGeom prst="rect">
            <a:avLst/>
          </a:prstGeom>
          <a:noFill/>
        </p:spPr>
        <p:txBody>
          <a:bodyPr wrap="square" lIns="0" rIns="0" tIns="0" bIns="0" anchor="ctr">
            <a:spAutoFit/>
          </a:bodyPr>
          <a:lstStyle/>
          <a:p>
            <a:pPr algn="l"/>
            <a:r>
              <a:rPr sz="1100" b="0" i="0">
                <a:solidFill>
                  <a:srgbClr val="1B2A3A"/>
                </a:solidFill>
                <a:latin typeface="Calibri"/>
              </a:rPr>
              <a:t>Powerlink (QLD)</a:t>
            </a:r>
          </a:p>
        </p:txBody>
      </p:sp>
      <p:sp>
        <p:nvSpPr>
          <p:cNvPr id="69" name="Rectangle 68"/>
          <p:cNvSpPr/>
          <p:nvPr/>
        </p:nvSpPr>
        <p:spPr>
          <a:xfrm>
            <a:off x="9784080" y="3017520"/>
            <a:ext cx="9144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857232" y="3017520"/>
            <a:ext cx="804672" cy="365760"/>
          </a:xfrm>
          <a:prstGeom prst="rect">
            <a:avLst/>
          </a:prstGeom>
          <a:noFill/>
        </p:spPr>
        <p:txBody>
          <a:bodyPr wrap="square" lIns="0" rIns="0" tIns="0" bIns="0" anchor="ctr">
            <a:spAutoFit/>
          </a:bodyPr>
          <a:lstStyle/>
          <a:p>
            <a:pPr algn="l"/>
            <a:r>
              <a:rPr sz="1100" b="0" i="0">
                <a:solidFill>
                  <a:srgbClr val="1B2A3A"/>
                </a:solidFill>
                <a:latin typeface="Calibri"/>
              </a:rPr>
              <a:t>22-27</a:t>
            </a:r>
          </a:p>
        </p:txBody>
      </p:sp>
      <p:sp>
        <p:nvSpPr>
          <p:cNvPr id="71" name="Rectangle 70"/>
          <p:cNvSpPr/>
          <p:nvPr/>
        </p:nvSpPr>
        <p:spPr>
          <a:xfrm>
            <a:off x="10698480" y="3017520"/>
            <a:ext cx="100584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771632" y="3017520"/>
            <a:ext cx="896112" cy="365760"/>
          </a:xfrm>
          <a:prstGeom prst="rect">
            <a:avLst/>
          </a:prstGeom>
          <a:noFill/>
        </p:spPr>
        <p:txBody>
          <a:bodyPr wrap="square" lIns="0" rIns="0" tIns="0" bIns="0" anchor="ctr">
            <a:spAutoFit/>
          </a:bodyPr>
          <a:lstStyle/>
          <a:p>
            <a:pPr algn="l"/>
            <a:r>
              <a:rPr sz="1100" b="0" i="0">
                <a:solidFill>
                  <a:srgbClr val="1B2A3A"/>
                </a:solidFill>
                <a:latin typeface="Calibri"/>
              </a:rPr>
              <a:t>$3.8bn</a:t>
            </a:r>
          </a:p>
        </p:txBody>
      </p:sp>
      <p:sp>
        <p:nvSpPr>
          <p:cNvPr id="73" name="Rectangle 72"/>
          <p:cNvSpPr/>
          <p:nvPr/>
        </p:nvSpPr>
        <p:spPr>
          <a:xfrm>
            <a:off x="7315200" y="3383280"/>
            <a:ext cx="246888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88352" y="3383280"/>
            <a:ext cx="2359152" cy="365760"/>
          </a:xfrm>
          <a:prstGeom prst="rect">
            <a:avLst/>
          </a:prstGeom>
          <a:noFill/>
        </p:spPr>
        <p:txBody>
          <a:bodyPr wrap="square" lIns="0" rIns="0" tIns="0" bIns="0" anchor="ctr">
            <a:spAutoFit/>
          </a:bodyPr>
          <a:lstStyle/>
          <a:p>
            <a:pPr algn="l"/>
            <a:r>
              <a:rPr sz="1100" b="0" i="0">
                <a:solidFill>
                  <a:srgbClr val="1B2A3A"/>
                </a:solidFill>
                <a:latin typeface="Calibri"/>
              </a:rPr>
              <a:t>ElectraNet (SA)</a:t>
            </a:r>
          </a:p>
        </p:txBody>
      </p:sp>
      <p:sp>
        <p:nvSpPr>
          <p:cNvPr id="75" name="Rectangle 74"/>
          <p:cNvSpPr/>
          <p:nvPr/>
        </p:nvSpPr>
        <p:spPr>
          <a:xfrm>
            <a:off x="9784080" y="3383280"/>
            <a:ext cx="91440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857232" y="3383280"/>
            <a:ext cx="804672" cy="365760"/>
          </a:xfrm>
          <a:prstGeom prst="rect">
            <a:avLst/>
          </a:prstGeom>
          <a:noFill/>
        </p:spPr>
        <p:txBody>
          <a:bodyPr wrap="square" lIns="0" rIns="0" tIns="0" bIns="0" anchor="ctr">
            <a:spAutoFit/>
          </a:bodyPr>
          <a:lstStyle/>
          <a:p>
            <a:pPr algn="l"/>
            <a:r>
              <a:rPr sz="1100" b="0" i="0">
                <a:solidFill>
                  <a:srgbClr val="1B2A3A"/>
                </a:solidFill>
                <a:latin typeface="Calibri"/>
              </a:rPr>
              <a:t>23-28</a:t>
            </a:r>
          </a:p>
        </p:txBody>
      </p:sp>
      <p:sp>
        <p:nvSpPr>
          <p:cNvPr id="77" name="Rectangle 76"/>
          <p:cNvSpPr/>
          <p:nvPr/>
        </p:nvSpPr>
        <p:spPr>
          <a:xfrm>
            <a:off x="10698480" y="3383280"/>
            <a:ext cx="1005840" cy="36576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771632" y="3383280"/>
            <a:ext cx="896112" cy="365760"/>
          </a:xfrm>
          <a:prstGeom prst="rect">
            <a:avLst/>
          </a:prstGeom>
          <a:noFill/>
        </p:spPr>
        <p:txBody>
          <a:bodyPr wrap="square" lIns="0" rIns="0" tIns="0" bIns="0" anchor="ctr">
            <a:spAutoFit/>
          </a:bodyPr>
          <a:lstStyle/>
          <a:p>
            <a:pPr algn="l"/>
            <a:r>
              <a:rPr sz="1100" b="0" i="0">
                <a:solidFill>
                  <a:srgbClr val="1B2A3A"/>
                </a:solidFill>
                <a:latin typeface="Calibri"/>
              </a:rPr>
              <a:t>$2.2bn</a:t>
            </a:r>
          </a:p>
        </p:txBody>
      </p:sp>
      <p:sp>
        <p:nvSpPr>
          <p:cNvPr id="79" name="TextBox 78"/>
          <p:cNvSpPr txBox="1"/>
          <p:nvPr/>
        </p:nvSpPr>
        <p:spPr>
          <a:xfrm>
            <a:off x="7315200" y="4572000"/>
            <a:ext cx="4389120" cy="274320"/>
          </a:xfrm>
          <a:prstGeom prst="rect">
            <a:avLst/>
          </a:prstGeom>
          <a:noFill/>
        </p:spPr>
        <p:txBody>
          <a:bodyPr wrap="square" lIns="0" rIns="0" tIns="0" bIns="0">
            <a:spAutoFit/>
          </a:bodyPr>
          <a:lstStyle/>
          <a:p>
            <a:pPr algn="l"/>
            <a:r>
              <a:rPr sz="1000" b="0" i="1">
                <a:solidFill>
                  <a:srgbClr val="5B6378"/>
                </a:solidFill>
                <a:latin typeface="Calibri"/>
              </a:rPr>
              <a:t>Project EnergyConnect: $1.8bn -&gt; $3.6bn</a:t>
            </a:r>
          </a:p>
        </p:txBody>
      </p:sp>
      <p:sp>
        <p:nvSpPr>
          <p:cNvPr id="80" name="TextBox 79"/>
          <p:cNvSpPr txBox="1"/>
          <p:nvPr/>
        </p:nvSpPr>
        <p:spPr>
          <a:xfrm>
            <a:off x="640080" y="5120640"/>
            <a:ext cx="10972800" cy="548640"/>
          </a:xfrm>
          <a:prstGeom prst="rect">
            <a:avLst/>
          </a:prstGeom>
          <a:noFill/>
        </p:spPr>
        <p:txBody>
          <a:bodyPr wrap="square" lIns="0" rIns="0" tIns="0" bIns="0">
            <a:spAutoFit/>
          </a:bodyPr>
          <a:lstStyle/>
          <a:p>
            <a:pPr algn="l">
              <a:lnSpc>
                <a:spcPct val="110000"/>
              </a:lnSpc>
            </a:pPr>
            <a:r>
              <a:rPr sz="1250" b="0" i="1">
                <a:solidFill>
                  <a:srgbClr val="0A1F44"/>
                </a:solidFill>
                <a:latin typeface="Calibri"/>
              </a:rPr>
              <a:t>The common thread: every reset in 2022-25 landed in a high-rate, high-inflation window - the AER attributes ~46-50% of the distribution increases to higher inflation and interest rates.</a:t>
            </a:r>
          </a:p>
        </p:txBody>
      </p:sp>
      <p:sp>
        <p:nvSpPr>
          <p:cNvPr id="81" name="TextBox 80"/>
          <p:cNvSpPr txBox="1"/>
          <p:nvPr/>
        </p:nvSpPr>
        <p:spPr>
          <a:xfrm>
            <a:off x="640080" y="6126480"/>
            <a:ext cx="10972800" cy="228600"/>
          </a:xfrm>
          <a:prstGeom prst="rect">
            <a:avLst/>
          </a:prstGeom>
          <a:noFill/>
        </p:spPr>
        <p:txBody>
          <a:bodyPr wrap="square" lIns="0" rIns="0" tIns="0" bIns="0">
            <a:spAutoFit/>
          </a:bodyPr>
          <a:lstStyle/>
          <a:p>
            <a:pPr algn="l"/>
            <a:r>
              <a:rPr sz="850" b="0" i="1">
                <a:solidFill>
                  <a:srgbClr val="5B6378"/>
                </a:solidFill>
                <a:latin typeface="Calibri"/>
              </a:rPr>
              <a:t>* Ausgrid draft-decision figure; 'n/p' = % vs prior not published. Transmission is ~4-11% of a typical bill; Project EnergyConnect is a near-term cost but a net saving.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NETWORK - COST VS DEMAND</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Rising cost, flat grid</a:t>
            </a:r>
          </a:p>
        </p:txBody>
      </p:sp>
      <p:pic>
        <p:nvPicPr>
          <p:cNvPr id="6" name="Picture 5" descr="dem.png"/>
          <p:cNvPicPr>
            <a:picLocks noChangeAspect="1"/>
          </p:cNvPicPr>
          <p:nvPr/>
        </p:nvPicPr>
        <p:blipFill>
          <a:blip r:embed="rId2"/>
          <a:stretch>
            <a:fillRect/>
          </a:stretch>
        </p:blipFill>
        <p:spPr>
          <a:xfrm>
            <a:off x="502920" y="1828800"/>
            <a:ext cx="6217920" cy="3657600"/>
          </a:xfrm>
          <a:prstGeom prst="rect">
            <a:avLst/>
          </a:prstGeom>
        </p:spPr>
      </p:pic>
      <p:sp>
        <p:nvSpPr>
          <p:cNvPr id="7" name="TextBox 6"/>
          <p:cNvSpPr txBox="1"/>
          <p:nvPr/>
        </p:nvSpPr>
        <p:spPr>
          <a:xfrm>
            <a:off x="548640" y="5577840"/>
            <a:ext cx="6858000" cy="274320"/>
          </a:xfrm>
          <a:prstGeom prst="rect">
            <a:avLst/>
          </a:prstGeom>
          <a:noFill/>
        </p:spPr>
        <p:txBody>
          <a:bodyPr wrap="square" lIns="0" rIns="0" tIns="0" bIns="0">
            <a:spAutoFit/>
          </a:bodyPr>
          <a:lstStyle/>
          <a:p>
            <a:pPr algn="l"/>
            <a:r>
              <a:rPr sz="1000" b="0" i="1">
                <a:solidFill>
                  <a:srgbClr val="5B6378"/>
                </a:solidFill>
                <a:latin typeface="Calibri"/>
              </a:rPr>
              <a:t>NEM, financial year - demand in GW. Peak = annual maximum (summer or winter).</a:t>
            </a:r>
          </a:p>
        </p:txBody>
      </p:sp>
      <p:sp>
        <p:nvSpPr>
          <p:cNvPr id="8" name="Rectangle 7"/>
          <p:cNvSpPr/>
          <p:nvPr/>
        </p:nvSpPr>
        <p:spPr>
          <a:xfrm>
            <a:off x="7589520" y="1828800"/>
            <a:ext cx="4114800" cy="114300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0" y="1828800"/>
            <a:ext cx="82296" cy="11430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920240"/>
            <a:ext cx="3749039" cy="274320"/>
          </a:xfrm>
          <a:prstGeom prst="rect">
            <a:avLst/>
          </a:prstGeom>
          <a:noFill/>
        </p:spPr>
        <p:txBody>
          <a:bodyPr wrap="square" lIns="0" rIns="0" tIns="0" bIns="0">
            <a:spAutoFit/>
          </a:bodyPr>
          <a:lstStyle/>
          <a:p>
            <a:pPr algn="l"/>
            <a:r>
              <a:rPr sz="1200" b="1" i="0">
                <a:solidFill>
                  <a:srgbClr val="5B6378"/>
                </a:solidFill>
                <a:latin typeface="Calibri"/>
              </a:rPr>
              <a:t>Network revenue</a:t>
            </a:r>
          </a:p>
        </p:txBody>
      </p:sp>
      <p:sp>
        <p:nvSpPr>
          <p:cNvPr id="11" name="TextBox 10"/>
          <p:cNvSpPr txBox="1"/>
          <p:nvPr/>
        </p:nvSpPr>
        <p:spPr>
          <a:xfrm>
            <a:off x="7818120" y="2194560"/>
            <a:ext cx="3749039" cy="411480"/>
          </a:xfrm>
          <a:prstGeom prst="rect">
            <a:avLst/>
          </a:prstGeom>
          <a:noFill/>
        </p:spPr>
        <p:txBody>
          <a:bodyPr wrap="square" lIns="0" rIns="0" tIns="0" bIns="0">
            <a:spAutoFit/>
          </a:bodyPr>
          <a:lstStyle/>
          <a:p>
            <a:pPr algn="l"/>
            <a:r>
              <a:rPr sz="2200" b="1" i="0">
                <a:solidFill>
                  <a:srgbClr val="0A1F44"/>
                </a:solidFill>
                <a:latin typeface="Calibri Light"/>
              </a:rPr>
              <a:t>+33% to +47%</a:t>
            </a:r>
          </a:p>
        </p:txBody>
      </p:sp>
      <p:sp>
        <p:nvSpPr>
          <p:cNvPr id="12" name="TextBox 11"/>
          <p:cNvSpPr txBox="1"/>
          <p:nvPr/>
        </p:nvSpPr>
        <p:spPr>
          <a:xfrm>
            <a:off x="7818120" y="2670048"/>
            <a:ext cx="3703320" cy="274320"/>
          </a:xfrm>
          <a:prstGeom prst="rect">
            <a:avLst/>
          </a:prstGeom>
          <a:noFill/>
        </p:spPr>
        <p:txBody>
          <a:bodyPr wrap="square" lIns="0" rIns="0" tIns="0" bIns="0">
            <a:spAutoFit/>
          </a:bodyPr>
          <a:lstStyle/>
          <a:p>
            <a:pPr algn="l"/>
            <a:r>
              <a:rPr sz="950" b="0" i="0">
                <a:solidFill>
                  <a:srgbClr val="5B6378"/>
                </a:solidFill>
                <a:latin typeface="Calibri"/>
              </a:rPr>
              <a:t>latest 5-year resets vs prior period</a:t>
            </a:r>
          </a:p>
        </p:txBody>
      </p:sp>
      <p:sp>
        <p:nvSpPr>
          <p:cNvPr id="13" name="Rectangle 12"/>
          <p:cNvSpPr/>
          <p:nvPr/>
        </p:nvSpPr>
        <p:spPr>
          <a:xfrm>
            <a:off x="7589520" y="3108960"/>
            <a:ext cx="4114800" cy="114300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0" y="3108960"/>
            <a:ext cx="82296" cy="1143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3200400"/>
            <a:ext cx="3749039" cy="274320"/>
          </a:xfrm>
          <a:prstGeom prst="rect">
            <a:avLst/>
          </a:prstGeom>
          <a:noFill/>
        </p:spPr>
        <p:txBody>
          <a:bodyPr wrap="square" lIns="0" rIns="0" tIns="0" bIns="0">
            <a:spAutoFit/>
          </a:bodyPr>
          <a:lstStyle/>
          <a:p>
            <a:pPr algn="l"/>
            <a:r>
              <a:rPr sz="1200" b="1" i="0">
                <a:solidFill>
                  <a:srgbClr val="5B6378"/>
                </a:solidFill>
                <a:latin typeface="Calibri"/>
              </a:rPr>
              <a:t>Average demand</a:t>
            </a:r>
          </a:p>
        </p:txBody>
      </p:sp>
      <p:sp>
        <p:nvSpPr>
          <p:cNvPr id="16" name="TextBox 15"/>
          <p:cNvSpPr txBox="1"/>
          <p:nvPr/>
        </p:nvSpPr>
        <p:spPr>
          <a:xfrm>
            <a:off x="7818120" y="3474720"/>
            <a:ext cx="3749039" cy="411480"/>
          </a:xfrm>
          <a:prstGeom prst="rect">
            <a:avLst/>
          </a:prstGeom>
          <a:noFill/>
        </p:spPr>
        <p:txBody>
          <a:bodyPr wrap="square" lIns="0" rIns="0" tIns="0" bIns="0">
            <a:spAutoFit/>
          </a:bodyPr>
          <a:lstStyle/>
          <a:p>
            <a:pPr algn="l"/>
            <a:r>
              <a:rPr sz="2200" b="1" i="0">
                <a:solidFill>
                  <a:srgbClr val="00C2A8"/>
                </a:solidFill>
                <a:latin typeface="Calibri Light"/>
              </a:rPr>
              <a:t>~22 GW, flat</a:t>
            </a:r>
          </a:p>
        </p:txBody>
      </p:sp>
      <p:sp>
        <p:nvSpPr>
          <p:cNvPr id="17" name="TextBox 16"/>
          <p:cNvSpPr txBox="1"/>
          <p:nvPr/>
        </p:nvSpPr>
        <p:spPr>
          <a:xfrm>
            <a:off x="7818120" y="3950208"/>
            <a:ext cx="3703320" cy="274320"/>
          </a:xfrm>
          <a:prstGeom prst="rect">
            <a:avLst/>
          </a:prstGeom>
          <a:noFill/>
        </p:spPr>
        <p:txBody>
          <a:bodyPr wrap="square" lIns="0" rIns="0" tIns="0" bIns="0">
            <a:spAutoFit/>
          </a:bodyPr>
          <a:lstStyle/>
          <a:p>
            <a:pPr algn="l"/>
            <a:r>
              <a:rPr sz="950" b="0" i="0">
                <a:solidFill>
                  <a:srgbClr val="5B6378"/>
                </a:solidFill>
                <a:latin typeface="Calibri"/>
              </a:rPr>
              <a:t>grid energy barely moved since 2019</a:t>
            </a:r>
          </a:p>
        </p:txBody>
      </p:sp>
      <p:sp>
        <p:nvSpPr>
          <p:cNvPr id="18" name="Rectangle 17"/>
          <p:cNvSpPr/>
          <p:nvPr/>
        </p:nvSpPr>
        <p:spPr>
          <a:xfrm>
            <a:off x="7589520" y="4389120"/>
            <a:ext cx="4114800" cy="114300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89520" y="4389120"/>
            <a:ext cx="82296" cy="114300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4480559"/>
            <a:ext cx="3749039" cy="274320"/>
          </a:xfrm>
          <a:prstGeom prst="rect">
            <a:avLst/>
          </a:prstGeom>
          <a:noFill/>
        </p:spPr>
        <p:txBody>
          <a:bodyPr wrap="square" lIns="0" rIns="0" tIns="0" bIns="0">
            <a:spAutoFit/>
          </a:bodyPr>
          <a:lstStyle/>
          <a:p>
            <a:pPr algn="l"/>
            <a:r>
              <a:rPr sz="1200" b="1" i="0">
                <a:solidFill>
                  <a:srgbClr val="5B6378"/>
                </a:solidFill>
                <a:latin typeface="Calibri"/>
              </a:rPr>
              <a:t>Peak demand</a:t>
            </a:r>
          </a:p>
        </p:txBody>
      </p:sp>
      <p:sp>
        <p:nvSpPr>
          <p:cNvPr id="21" name="TextBox 20"/>
          <p:cNvSpPr txBox="1"/>
          <p:nvPr/>
        </p:nvSpPr>
        <p:spPr>
          <a:xfrm>
            <a:off x="7818120" y="4754880"/>
            <a:ext cx="3749039" cy="411480"/>
          </a:xfrm>
          <a:prstGeom prst="rect">
            <a:avLst/>
          </a:prstGeom>
          <a:noFill/>
        </p:spPr>
        <p:txBody>
          <a:bodyPr wrap="square" lIns="0" rIns="0" tIns="0" bIns="0">
            <a:spAutoFit/>
          </a:bodyPr>
          <a:lstStyle/>
          <a:p>
            <a:pPr algn="l"/>
            <a:r>
              <a:rPr sz="2200" b="1" i="0">
                <a:solidFill>
                  <a:srgbClr val="9A7D00"/>
                </a:solidFill>
                <a:latin typeface="Calibri Light"/>
              </a:rPr>
              <a:t>~33-34 GW</a:t>
            </a:r>
          </a:p>
        </p:txBody>
      </p:sp>
      <p:sp>
        <p:nvSpPr>
          <p:cNvPr id="22" name="TextBox 21"/>
          <p:cNvSpPr txBox="1"/>
          <p:nvPr/>
        </p:nvSpPr>
        <p:spPr>
          <a:xfrm>
            <a:off x="7818120" y="5230368"/>
            <a:ext cx="3703320" cy="274320"/>
          </a:xfrm>
          <a:prstGeom prst="rect">
            <a:avLst/>
          </a:prstGeom>
          <a:noFill/>
        </p:spPr>
        <p:txBody>
          <a:bodyPr wrap="square" lIns="0" rIns="0" tIns="0" bIns="0">
            <a:spAutoFit/>
          </a:bodyPr>
          <a:lstStyle/>
          <a:p>
            <a:pPr algn="l"/>
            <a:r>
              <a:rPr sz="950" b="0" i="0">
                <a:solidFill>
                  <a:srgbClr val="5B6378"/>
                </a:solidFill>
                <a:latin typeface="Calibri"/>
              </a:rPr>
              <a:t>no upward trend; 2019-20 a heat outlier</a:t>
            </a:r>
          </a:p>
        </p:txBody>
      </p:sp>
      <p:sp>
        <p:nvSpPr>
          <p:cNvPr id="23" name="TextBox 22"/>
          <p:cNvSpPr txBox="1"/>
          <p:nvPr/>
        </p:nvSpPr>
        <p:spPr>
          <a:xfrm>
            <a:off x="502920" y="5897880"/>
            <a:ext cx="11155680" cy="457200"/>
          </a:xfrm>
          <a:prstGeom prst="rect">
            <a:avLst/>
          </a:prstGeom>
          <a:noFill/>
        </p:spPr>
        <p:txBody>
          <a:bodyPr wrap="square" lIns="0" rIns="0" tIns="0" bIns="0">
            <a:spAutoFit/>
          </a:bodyPr>
          <a:lstStyle/>
          <a:p>
            <a:pPr algn="l">
              <a:lnSpc>
                <a:spcPct val="100000"/>
              </a:lnSpc>
            </a:pPr>
            <a:r>
              <a:rPr sz="950" b="0" i="1">
                <a:solidFill>
                  <a:srgbClr val="5B6378"/>
                </a:solidFill>
                <a:latin typeface="Calibri"/>
              </a:rPr>
              <a:t>Demand has been flat on both measures since 2019, yet allowed network revenue rose 33-47% - about half from higher financing costs (the rate-of-return reset and inflation) and about half from real investment in replacing and modernising an ageing grid, not load growth. (See next slide.)</a:t>
            </a:r>
          </a:p>
        </p:txBody>
      </p:sp>
      <p:sp>
        <p:nvSpPr>
          <p:cNvPr id="24" name="TextBox 23"/>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AER demand &amp; energy charts (NEM) - network revenue: AER determinations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NETWORK - WHAT'S REALLY DRIVING IT</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000" b="1" i="0">
                <a:solidFill>
                  <a:srgbClr val="0A1F44"/>
                </a:solidFill>
                <a:latin typeface="Calibri"/>
              </a:rPr>
              <a:t>Why the network bill rose — not demand</a:t>
            </a:r>
          </a:p>
        </p:txBody>
      </p:sp>
      <p:sp>
        <p:nvSpPr>
          <p:cNvPr id="6" name="TextBox 5"/>
          <p:cNvSpPr txBox="1"/>
          <p:nvPr/>
        </p:nvSpPr>
        <p:spPr>
          <a:xfrm>
            <a:off x="640080" y="1691640"/>
            <a:ext cx="10972800" cy="274320"/>
          </a:xfrm>
          <a:prstGeom prst="rect">
            <a:avLst/>
          </a:prstGeom>
          <a:noFill/>
        </p:spPr>
        <p:txBody>
          <a:bodyPr wrap="square" lIns="0" rIns="0" tIns="0" bIns="0">
            <a:spAutoFit/>
          </a:bodyPr>
          <a:lstStyle/>
          <a:p>
            <a:pPr algn="l"/>
            <a:r>
              <a:rPr sz="1300" b="0" i="1">
                <a:solidFill>
                  <a:srgbClr val="5B6378"/>
                </a:solidFill>
                <a:latin typeface="Calibri"/>
              </a:rPr>
              <a:t>SA Power Networks' reset shows the split — +$1,299m (+33%) for 2025-30:</a:t>
            </a:r>
          </a:p>
        </p:txBody>
      </p:sp>
      <p:sp>
        <p:nvSpPr>
          <p:cNvPr id="7" name="Rectangle 6"/>
          <p:cNvSpPr/>
          <p:nvPr/>
        </p:nvSpPr>
        <p:spPr>
          <a:xfrm>
            <a:off x="640080" y="2103120"/>
            <a:ext cx="5047488" cy="7772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87568" y="2103120"/>
            <a:ext cx="5925312" cy="77724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5047488" cy="777240"/>
          </a:xfrm>
          <a:prstGeom prst="rect">
            <a:avLst/>
          </a:prstGeom>
          <a:noFill/>
        </p:spPr>
        <p:txBody>
          <a:bodyPr wrap="square" lIns="0" rIns="0" tIns="0" bIns="0" anchor="ctr">
            <a:spAutoFit/>
          </a:bodyPr>
          <a:lstStyle/>
          <a:p>
            <a:pPr algn="ctr"/>
            <a:r>
              <a:rPr sz="1400" b="1" i="0">
                <a:solidFill>
                  <a:srgbClr val="FFFFFF"/>
                </a:solidFill>
                <a:latin typeface="Calibri"/>
              </a:rPr>
              <a:t>Financing + inflation  ~46%</a:t>
            </a:r>
          </a:p>
        </p:txBody>
      </p:sp>
      <p:sp>
        <p:nvSpPr>
          <p:cNvPr id="10" name="TextBox 9"/>
          <p:cNvSpPr txBox="1"/>
          <p:nvPr/>
        </p:nvSpPr>
        <p:spPr>
          <a:xfrm>
            <a:off x="5687568" y="2103120"/>
            <a:ext cx="5925312" cy="777240"/>
          </a:xfrm>
          <a:prstGeom prst="rect">
            <a:avLst/>
          </a:prstGeom>
          <a:noFill/>
        </p:spPr>
        <p:txBody>
          <a:bodyPr wrap="square" lIns="0" rIns="0" tIns="0" bIns="0" anchor="ctr">
            <a:spAutoFit/>
          </a:bodyPr>
          <a:lstStyle/>
          <a:p>
            <a:pPr algn="ctr"/>
            <a:r>
              <a:rPr sz="1400" b="1" i="0">
                <a:solidFill>
                  <a:srgbClr val="0A1F44"/>
                </a:solidFill>
                <a:latin typeface="Calibri"/>
              </a:rPr>
              <a:t>Real investment + opex  ~54%</a:t>
            </a:r>
          </a:p>
        </p:txBody>
      </p:sp>
      <p:sp>
        <p:nvSpPr>
          <p:cNvPr id="11" name="TextBox 10"/>
          <p:cNvSpPr txBox="1"/>
          <p:nvPr/>
        </p:nvSpPr>
        <p:spPr>
          <a:xfrm>
            <a:off x="640080" y="2926080"/>
            <a:ext cx="5047488" cy="274320"/>
          </a:xfrm>
          <a:prstGeom prst="rect">
            <a:avLst/>
          </a:prstGeom>
          <a:noFill/>
        </p:spPr>
        <p:txBody>
          <a:bodyPr wrap="square" lIns="0" rIns="0" tIns="0" bIns="0">
            <a:spAutoFit/>
          </a:bodyPr>
          <a:lstStyle/>
          <a:p>
            <a:pPr algn="ctr"/>
            <a:r>
              <a:rPr sz="1000" b="0" i="1">
                <a:solidFill>
                  <a:srgbClr val="5B6378"/>
                </a:solidFill>
                <a:latin typeface="Calibri"/>
              </a:rPr>
              <a:t>rate-of-return reset + the asset base re-priced by inflation</a:t>
            </a:r>
          </a:p>
        </p:txBody>
      </p:sp>
      <p:sp>
        <p:nvSpPr>
          <p:cNvPr id="12" name="TextBox 11"/>
          <p:cNvSpPr txBox="1"/>
          <p:nvPr/>
        </p:nvSpPr>
        <p:spPr>
          <a:xfrm>
            <a:off x="5687568" y="2926080"/>
            <a:ext cx="5925312" cy="274320"/>
          </a:xfrm>
          <a:prstGeom prst="rect">
            <a:avLst/>
          </a:prstGeom>
          <a:noFill/>
        </p:spPr>
        <p:txBody>
          <a:bodyPr wrap="square" lIns="0" rIns="0" tIns="0" bIns="0">
            <a:spAutoFit/>
          </a:bodyPr>
          <a:lstStyle/>
          <a:p>
            <a:pPr algn="ctr"/>
            <a:r>
              <a:rPr sz="1000" b="0" i="1">
                <a:solidFill>
                  <a:srgbClr val="5B6378"/>
                </a:solidFill>
                <a:latin typeface="Calibri"/>
              </a:rPr>
              <a:t>replacing &amp; modernising an ageing grid — not demand growth</a:t>
            </a:r>
          </a:p>
        </p:txBody>
      </p:sp>
      <p:sp>
        <p:nvSpPr>
          <p:cNvPr id="13" name="TextBox 12"/>
          <p:cNvSpPr txBox="1"/>
          <p:nvPr/>
        </p:nvSpPr>
        <p:spPr>
          <a:xfrm>
            <a:off x="640080" y="3611880"/>
            <a:ext cx="5486400" cy="274320"/>
          </a:xfrm>
          <a:prstGeom prst="rect">
            <a:avLst/>
          </a:prstGeom>
          <a:noFill/>
        </p:spPr>
        <p:txBody>
          <a:bodyPr wrap="square" lIns="0" rIns="0" tIns="0" bIns="0">
            <a:spAutoFit/>
          </a:bodyPr>
          <a:lstStyle/>
          <a:p>
            <a:pPr algn="l"/>
            <a:r>
              <a:rPr sz="1400" b="1" i="0">
                <a:solidFill>
                  <a:srgbClr val="0A1F44"/>
                </a:solidFill>
                <a:latin typeface="Calibri"/>
              </a:rPr>
              <a:t>What the investment is for</a:t>
            </a:r>
          </a:p>
        </p:txBody>
      </p:sp>
      <p:sp>
        <p:nvSpPr>
          <p:cNvPr id="14" name="Rectangle 13"/>
          <p:cNvSpPr/>
          <p:nvPr/>
        </p:nvSpPr>
        <p:spPr>
          <a:xfrm>
            <a:off x="640080" y="4069080"/>
            <a:ext cx="201168" cy="201168"/>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05072"/>
            <a:ext cx="5669280" cy="320040"/>
          </a:xfrm>
          <a:prstGeom prst="rect">
            <a:avLst/>
          </a:prstGeom>
          <a:noFill/>
        </p:spPr>
        <p:txBody>
          <a:bodyPr wrap="square" lIns="0" rIns="0" tIns="0" bIns="0">
            <a:spAutoFit/>
          </a:bodyPr>
          <a:lstStyle/>
          <a:p>
            <a:pPr algn="l"/>
            <a:r>
              <a:rPr sz="1300" b="1" i="0">
                <a:solidFill>
                  <a:srgbClr val="0A1F44"/>
                </a:solidFill>
                <a:latin typeface="Calibri"/>
              </a:rPr>
              <a:t>Replacing an ageing grid</a:t>
            </a:r>
          </a:p>
        </p:txBody>
      </p:sp>
      <p:sp>
        <p:nvSpPr>
          <p:cNvPr id="16" name="TextBox 15"/>
          <p:cNvSpPr txBox="1"/>
          <p:nvPr/>
        </p:nvSpPr>
        <p:spPr>
          <a:xfrm>
            <a:off x="960120" y="4315968"/>
            <a:ext cx="5852160" cy="274320"/>
          </a:xfrm>
          <a:prstGeom prst="rect">
            <a:avLst/>
          </a:prstGeom>
          <a:noFill/>
        </p:spPr>
        <p:txBody>
          <a:bodyPr wrap="square" lIns="0" rIns="0" tIns="0" bIns="0">
            <a:spAutoFit/>
          </a:bodyPr>
          <a:lstStyle/>
          <a:p>
            <a:pPr algn="l"/>
            <a:r>
              <a:rPr sz="1050" b="0" i="0">
                <a:solidFill>
                  <a:srgbClr val="5B6378"/>
                </a:solidFill>
                <a:latin typeface="Calibri"/>
              </a:rPr>
              <a:t>— the largest capex; assets built decades ago</a:t>
            </a:r>
          </a:p>
        </p:txBody>
      </p:sp>
      <p:sp>
        <p:nvSpPr>
          <p:cNvPr id="17" name="Rectangle 16"/>
          <p:cNvSpPr/>
          <p:nvPr/>
        </p:nvSpPr>
        <p:spPr>
          <a:xfrm>
            <a:off x="640080" y="4672584"/>
            <a:ext cx="201168" cy="201168"/>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608576"/>
            <a:ext cx="5669280" cy="320040"/>
          </a:xfrm>
          <a:prstGeom prst="rect">
            <a:avLst/>
          </a:prstGeom>
          <a:noFill/>
        </p:spPr>
        <p:txBody>
          <a:bodyPr wrap="square" lIns="0" rIns="0" tIns="0" bIns="0">
            <a:spAutoFit/>
          </a:bodyPr>
          <a:lstStyle/>
          <a:p>
            <a:pPr algn="l"/>
            <a:r>
              <a:rPr sz="1300" b="1" i="0">
                <a:solidFill>
                  <a:srgbClr val="0A1F44"/>
                </a:solidFill>
                <a:latin typeface="Calibri"/>
              </a:rPr>
              <a:t>Resilience &amp; cybersecurity</a:t>
            </a:r>
          </a:p>
        </p:txBody>
      </p:sp>
      <p:sp>
        <p:nvSpPr>
          <p:cNvPr id="19" name="TextBox 18"/>
          <p:cNvSpPr txBox="1"/>
          <p:nvPr/>
        </p:nvSpPr>
        <p:spPr>
          <a:xfrm>
            <a:off x="960120" y="4919472"/>
            <a:ext cx="5852160" cy="274320"/>
          </a:xfrm>
          <a:prstGeom prst="rect">
            <a:avLst/>
          </a:prstGeom>
          <a:noFill/>
        </p:spPr>
        <p:txBody>
          <a:bodyPr wrap="square" lIns="0" rIns="0" tIns="0" bIns="0">
            <a:spAutoFit/>
          </a:bodyPr>
          <a:lstStyle/>
          <a:p>
            <a:pPr algn="l"/>
            <a:r>
              <a:rPr sz="1050" b="0" i="0">
                <a:solidFill>
                  <a:srgbClr val="5B6378"/>
                </a:solidFill>
                <a:latin typeface="Calibri"/>
              </a:rPr>
              <a:t>— hardening against bushfire, flood &amp; cyber risk</a:t>
            </a:r>
          </a:p>
        </p:txBody>
      </p:sp>
      <p:sp>
        <p:nvSpPr>
          <p:cNvPr id="20" name="Rectangle 19"/>
          <p:cNvSpPr/>
          <p:nvPr/>
        </p:nvSpPr>
        <p:spPr>
          <a:xfrm>
            <a:off x="640080" y="5276088"/>
            <a:ext cx="201168" cy="201168"/>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212080"/>
            <a:ext cx="5669280" cy="320040"/>
          </a:xfrm>
          <a:prstGeom prst="rect">
            <a:avLst/>
          </a:prstGeom>
          <a:noFill/>
        </p:spPr>
        <p:txBody>
          <a:bodyPr wrap="square" lIns="0" rIns="0" tIns="0" bIns="0">
            <a:spAutoFit/>
          </a:bodyPr>
          <a:lstStyle/>
          <a:p>
            <a:pPr algn="l"/>
            <a:r>
              <a:rPr sz="1300" b="1" i="0">
                <a:solidFill>
                  <a:srgbClr val="0A1F44"/>
                </a:solidFill>
                <a:latin typeface="Calibri"/>
              </a:rPr>
              <a:t>Hosting rooftop solar &amp; batteries</a:t>
            </a:r>
          </a:p>
        </p:txBody>
      </p:sp>
      <p:sp>
        <p:nvSpPr>
          <p:cNvPr id="22" name="TextBox 21"/>
          <p:cNvSpPr txBox="1"/>
          <p:nvPr/>
        </p:nvSpPr>
        <p:spPr>
          <a:xfrm>
            <a:off x="960120" y="5522976"/>
            <a:ext cx="5852160" cy="274320"/>
          </a:xfrm>
          <a:prstGeom prst="rect">
            <a:avLst/>
          </a:prstGeom>
          <a:noFill/>
        </p:spPr>
        <p:txBody>
          <a:bodyPr wrap="square" lIns="0" rIns="0" tIns="0" bIns="0">
            <a:spAutoFit/>
          </a:bodyPr>
          <a:lstStyle/>
          <a:p>
            <a:pPr algn="l"/>
            <a:r>
              <a:rPr sz="1050" b="0" i="0">
                <a:solidFill>
                  <a:srgbClr val="5B6378"/>
                </a:solidFill>
                <a:latin typeface="Calibri"/>
              </a:rPr>
              <a:t>— re-engineering for two-way power flows</a:t>
            </a:r>
          </a:p>
        </p:txBody>
      </p:sp>
      <p:sp>
        <p:nvSpPr>
          <p:cNvPr id="23" name="TextBox 22"/>
          <p:cNvSpPr txBox="1"/>
          <p:nvPr/>
        </p:nvSpPr>
        <p:spPr>
          <a:xfrm>
            <a:off x="640080" y="6035040"/>
            <a:ext cx="6400800" cy="274320"/>
          </a:xfrm>
          <a:prstGeom prst="rect">
            <a:avLst/>
          </a:prstGeom>
          <a:noFill/>
        </p:spPr>
        <p:txBody>
          <a:bodyPr wrap="square" lIns="0" rIns="0" tIns="0" bIns="0">
            <a:spAutoFit/>
          </a:bodyPr>
          <a:lstStyle/>
          <a:p>
            <a:pPr algn="l"/>
            <a:r>
              <a:rPr sz="1100" b="0" i="1">
                <a:solidFill>
                  <a:srgbClr val="008C7A"/>
                </a:solidFill>
                <a:latin typeface="Calibri"/>
              </a:rPr>
              <a:t>And the AER cut demand-driven augmentation — on lower demand forecasts.</a:t>
            </a:r>
          </a:p>
        </p:txBody>
      </p:sp>
      <p:sp>
        <p:nvSpPr>
          <p:cNvPr id="24" name="Rectangle 23"/>
          <p:cNvSpPr/>
          <p:nvPr/>
        </p:nvSpPr>
        <p:spPr>
          <a:xfrm>
            <a:off x="7498079" y="3611880"/>
            <a:ext cx="4206240" cy="224028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98079" y="3611880"/>
            <a:ext cx="82296" cy="224028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79" y="3749039"/>
            <a:ext cx="3840480" cy="274320"/>
          </a:xfrm>
          <a:prstGeom prst="rect">
            <a:avLst/>
          </a:prstGeom>
          <a:noFill/>
        </p:spPr>
        <p:txBody>
          <a:bodyPr wrap="square" lIns="0" rIns="0" tIns="0" bIns="0">
            <a:spAutoFit/>
          </a:bodyPr>
          <a:lstStyle/>
          <a:p>
            <a:pPr algn="l"/>
            <a:r>
              <a:rPr sz="1300" b="1" i="0">
                <a:solidFill>
                  <a:srgbClr val="008C7A"/>
                </a:solidFill>
                <a:latin typeface="Calibri"/>
              </a:rPr>
              <a:t>Renewal, not a new build-out</a:t>
            </a:r>
          </a:p>
        </p:txBody>
      </p:sp>
      <p:sp>
        <p:nvSpPr>
          <p:cNvPr id="27" name="TextBox 26"/>
          <p:cNvSpPr txBox="1"/>
          <p:nvPr/>
        </p:nvSpPr>
        <p:spPr>
          <a:xfrm>
            <a:off x="7726679" y="4114800"/>
            <a:ext cx="3886200" cy="1691640"/>
          </a:xfrm>
          <a:prstGeom prst="rect">
            <a:avLst/>
          </a:prstGeom>
          <a:noFill/>
        </p:spPr>
        <p:txBody>
          <a:bodyPr wrap="square" lIns="0" rIns="0" tIns="0" bIns="0">
            <a:spAutoFit/>
          </a:bodyPr>
          <a:lstStyle/>
          <a:p>
            <a:pPr algn="l">
              <a:lnSpc>
                <a:spcPct val="108000"/>
              </a:lnSpc>
            </a:pPr>
            <a:r>
              <a:rPr sz="1150" b="0" i="0">
                <a:solidFill>
                  <a:srgbClr val="0A1F44"/>
                </a:solidFill>
                <a:latin typeface="Calibri"/>
              </a:rPr>
              <a:t>Customers keep growing (+26% since 2006), so the network is still extending. But the heavy build-out was last decade - capex is now replacement-led (augmentation down ~63%) and the real asset base has been flat since 2015. (The AER does not publish line length yearly.)</a:t>
            </a:r>
          </a:p>
        </p:txBody>
      </p:sp>
      <p:sp>
        <p:nvSpPr>
          <p:cNvPr id="28" name="TextBox 27"/>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AER SA Power Networks 2025-30 final decision - network length from company disclosures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REGIONS</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Same year, opposite directions</a:t>
            </a:r>
          </a:p>
        </p:txBody>
      </p:sp>
      <p:pic>
        <p:nvPicPr>
          <p:cNvPr id="6" name="Picture 5" descr="reg.png"/>
          <p:cNvPicPr>
            <a:picLocks noChangeAspect="1"/>
          </p:cNvPicPr>
          <p:nvPr/>
        </p:nvPicPr>
        <p:blipFill>
          <a:blip r:embed="rId2"/>
          <a:stretch>
            <a:fillRect/>
          </a:stretch>
        </p:blipFill>
        <p:spPr>
          <a:xfrm>
            <a:off x="1097280" y="1828800"/>
            <a:ext cx="6260450" cy="4206240"/>
          </a:xfrm>
          <a:prstGeom prst="rect">
            <a:avLst/>
          </a:prstGeom>
        </p:spPr>
      </p:pic>
      <p:sp>
        <p:nvSpPr>
          <p:cNvPr id="7" name="TextBox 6"/>
          <p:cNvSpPr txBox="1"/>
          <p:nvPr/>
        </p:nvSpPr>
        <p:spPr>
          <a:xfrm>
            <a:off x="1280160" y="5989320"/>
            <a:ext cx="9144000" cy="365760"/>
          </a:xfrm>
          <a:prstGeom prst="rect">
            <a:avLst/>
          </a:prstGeom>
          <a:noFill/>
        </p:spPr>
        <p:txBody>
          <a:bodyPr wrap="square" lIns="0" rIns="0" tIns="0" bIns="0">
            <a:spAutoFit/>
          </a:bodyPr>
          <a:lstStyle/>
          <a:p>
            <a:pPr algn="l"/>
            <a:r>
              <a:rPr sz="1300" b="0" i="1">
                <a:solidFill>
                  <a:srgbClr val="0A1F44"/>
                </a:solidFill>
                <a:latin typeface="Calibri"/>
              </a:rPr>
              <a:t>SA's network costs outweigh its wholesale savings - the lone riser.</a:t>
            </a:r>
          </a:p>
        </p:txBody>
      </p:sp>
      <p:sp>
        <p:nvSpPr>
          <p:cNvPr id="8" name="TextBox 7"/>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Residential flat rate - DMO 8 (2026-27) vs DMO 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NETWORK - THE STRUCTURAL SHIFT</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Falling usage is reshaping your bill</a:t>
            </a:r>
          </a:p>
        </p:txBody>
      </p:sp>
      <p:pic>
        <p:nvPicPr>
          <p:cNvPr id="6" name="Picture 5" descr="usage.png"/>
          <p:cNvPicPr>
            <a:picLocks noChangeAspect="1"/>
          </p:cNvPicPr>
          <p:nvPr/>
        </p:nvPicPr>
        <p:blipFill>
          <a:blip r:embed="rId2"/>
          <a:stretch>
            <a:fillRect/>
          </a:stretch>
        </p:blipFill>
        <p:spPr>
          <a:xfrm>
            <a:off x="502920" y="1828800"/>
            <a:ext cx="6217920" cy="3657600"/>
          </a:xfrm>
          <a:prstGeom prst="rect">
            <a:avLst/>
          </a:prstGeom>
        </p:spPr>
      </p:pic>
      <p:sp>
        <p:nvSpPr>
          <p:cNvPr id="7" name="TextBox 6"/>
          <p:cNvSpPr txBox="1"/>
          <p:nvPr/>
        </p:nvSpPr>
        <p:spPr>
          <a:xfrm>
            <a:off x="548640" y="5577840"/>
            <a:ext cx="6400800" cy="274320"/>
          </a:xfrm>
          <a:prstGeom prst="rect">
            <a:avLst/>
          </a:prstGeom>
          <a:noFill/>
        </p:spPr>
        <p:txBody>
          <a:bodyPr wrap="square" lIns="0" rIns="0" tIns="0" bIns="0">
            <a:spAutoFit/>
          </a:bodyPr>
          <a:lstStyle/>
          <a:p>
            <a:pPr algn="l"/>
            <a:r>
              <a:rPr sz="1000" b="0" i="1">
                <a:solidFill>
                  <a:srgbClr val="5B6378"/>
                </a:solidFill>
                <a:latin typeface="Calibri"/>
              </a:rPr>
              <a:t>Grid energy used per distribution customer (MWh/yr)</a:t>
            </a:r>
          </a:p>
        </p:txBody>
      </p:sp>
      <p:sp>
        <p:nvSpPr>
          <p:cNvPr id="8" name="Rectangle 7"/>
          <p:cNvSpPr/>
          <p:nvPr/>
        </p:nvSpPr>
        <p:spPr>
          <a:xfrm>
            <a:off x="7589520" y="1828800"/>
            <a:ext cx="4114800" cy="109728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0" y="1828800"/>
            <a:ext cx="82296" cy="109728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938528"/>
            <a:ext cx="3749039" cy="457200"/>
          </a:xfrm>
          <a:prstGeom prst="rect">
            <a:avLst/>
          </a:prstGeom>
          <a:noFill/>
        </p:spPr>
        <p:txBody>
          <a:bodyPr wrap="square" lIns="0" rIns="0" tIns="0" bIns="0">
            <a:spAutoFit/>
          </a:bodyPr>
          <a:lstStyle/>
          <a:p>
            <a:pPr algn="l"/>
            <a:r>
              <a:rPr sz="2400" b="1" i="0">
                <a:solidFill>
                  <a:srgbClr val="0A1F44"/>
                </a:solidFill>
                <a:latin typeface="Calibri Light"/>
              </a:rPr>
              <a:t>-22%</a:t>
            </a:r>
          </a:p>
        </p:txBody>
      </p:sp>
      <p:sp>
        <p:nvSpPr>
          <p:cNvPr id="11" name="TextBox 10"/>
          <p:cNvSpPr txBox="1"/>
          <p:nvPr/>
        </p:nvSpPr>
        <p:spPr>
          <a:xfrm>
            <a:off x="7818120" y="2468880"/>
            <a:ext cx="3794760" cy="365760"/>
          </a:xfrm>
          <a:prstGeom prst="rect">
            <a:avLst/>
          </a:prstGeom>
          <a:noFill/>
        </p:spPr>
        <p:txBody>
          <a:bodyPr wrap="square" lIns="0" rIns="0" tIns="0" bIns="0">
            <a:spAutoFit/>
          </a:bodyPr>
          <a:lstStyle/>
          <a:p>
            <a:pPr algn="l"/>
            <a:r>
              <a:rPr sz="1000" b="0" i="0">
                <a:solidFill>
                  <a:srgbClr val="5B6378"/>
                </a:solidFill>
                <a:latin typeface="Calibri"/>
              </a:rPr>
              <a:t>grid energy per customer, 2006-&gt;2024 (17.1 -&gt; 13.4 MWh)</a:t>
            </a:r>
          </a:p>
        </p:txBody>
      </p:sp>
      <p:sp>
        <p:nvSpPr>
          <p:cNvPr id="12" name="Rectangle 11"/>
          <p:cNvSpPr/>
          <p:nvPr/>
        </p:nvSpPr>
        <p:spPr>
          <a:xfrm>
            <a:off x="7589520" y="3108960"/>
            <a:ext cx="4114800" cy="109728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3108960"/>
            <a:ext cx="82296" cy="109728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3218688"/>
            <a:ext cx="3749039" cy="457200"/>
          </a:xfrm>
          <a:prstGeom prst="rect">
            <a:avLst/>
          </a:prstGeom>
          <a:noFill/>
        </p:spPr>
        <p:txBody>
          <a:bodyPr wrap="square" lIns="0" rIns="0" tIns="0" bIns="0">
            <a:spAutoFit/>
          </a:bodyPr>
          <a:lstStyle/>
          <a:p>
            <a:pPr algn="l"/>
            <a:r>
              <a:rPr sz="2400" b="1" i="0">
                <a:solidFill>
                  <a:srgbClr val="008C7A"/>
                </a:solidFill>
                <a:latin typeface="Calibri Light"/>
              </a:rPr>
              <a:t>9% -&gt; 37%</a:t>
            </a:r>
          </a:p>
        </p:txBody>
      </p:sp>
      <p:sp>
        <p:nvSpPr>
          <p:cNvPr id="15" name="TextBox 14"/>
          <p:cNvSpPr txBox="1"/>
          <p:nvPr/>
        </p:nvSpPr>
        <p:spPr>
          <a:xfrm>
            <a:off x="7818120" y="3749039"/>
            <a:ext cx="3794760" cy="365760"/>
          </a:xfrm>
          <a:prstGeom prst="rect">
            <a:avLst/>
          </a:prstGeom>
          <a:noFill/>
        </p:spPr>
        <p:txBody>
          <a:bodyPr wrap="square" lIns="0" rIns="0" tIns="0" bIns="0">
            <a:spAutoFit/>
          </a:bodyPr>
          <a:lstStyle/>
          <a:p>
            <a:pPr algn="l"/>
            <a:r>
              <a:rPr sz="1000" b="0" i="0">
                <a:solidFill>
                  <a:srgbClr val="5B6378"/>
                </a:solidFill>
                <a:latin typeface="Calibri"/>
              </a:rPr>
              <a:t>residential customers on cost-reflective tariffs, 2018-&gt;2024</a:t>
            </a:r>
          </a:p>
        </p:txBody>
      </p:sp>
      <p:sp>
        <p:nvSpPr>
          <p:cNvPr id="16" name="TextBox 15"/>
          <p:cNvSpPr txBox="1"/>
          <p:nvPr/>
        </p:nvSpPr>
        <p:spPr>
          <a:xfrm>
            <a:off x="7589520" y="4389120"/>
            <a:ext cx="4114800" cy="1463040"/>
          </a:xfrm>
          <a:prstGeom prst="rect">
            <a:avLst/>
          </a:prstGeom>
          <a:noFill/>
        </p:spPr>
        <p:txBody>
          <a:bodyPr wrap="square" lIns="0" rIns="0" tIns="0" bIns="0">
            <a:spAutoFit/>
          </a:bodyPr>
          <a:lstStyle/>
          <a:p>
            <a:pPr algn="l">
              <a:lnSpc>
                <a:spcPct val="105000"/>
              </a:lnSpc>
            </a:pPr>
            <a:r>
              <a:rPr sz="1050" b="0" i="0">
                <a:solidFill>
                  <a:srgbClr val="0A1F44"/>
                </a:solidFill>
                <a:latin typeface="Calibri"/>
              </a:rPr>
              <a:t>Network costs are largely fixed, so as rooftop solar and efficiency cut usage, flat per-kWh tariffs stop recovering them fairly. Networks are shifting to fixed daily, demand and time-of-use charges - the structural change behind DMO 8's tariff caps and Solar Sharer Offer.</a:t>
            </a:r>
          </a:p>
        </p:txBody>
      </p:sp>
      <p:sp>
        <p:nvSpPr>
          <p:cNvPr id="17" name="TextBox 16"/>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5B6378"/>
                </a:solidFill>
                <a:latin typeface="Calibri"/>
              </a:rPr>
              <a:t>AER State of the Energy Market 2025, ch.3 (usage Fig 3.31; tariffs Fig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F5C518"/>
                </a:solidFill>
                <a:latin typeface="Calibri"/>
              </a:rPr>
              <a:t>THE 2026 RESET</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FFFFFF"/>
                </a:solidFill>
                <a:latin typeface="Calibri"/>
              </a:rPr>
              <a:t>DMO 8: the rules changed</a:t>
            </a:r>
          </a:p>
        </p:txBody>
      </p:sp>
      <p:sp>
        <p:nvSpPr>
          <p:cNvPr id="6" name="Rectangle 5"/>
          <p:cNvSpPr/>
          <p:nvPr/>
        </p:nvSpPr>
        <p:spPr>
          <a:xfrm>
            <a:off x="640080" y="2103120"/>
            <a:ext cx="5303520" cy="1554480"/>
          </a:xfrm>
          <a:prstGeom prst="rect">
            <a:avLst/>
          </a:prstGeom>
          <a:solidFill>
            <a:srgbClr val="0F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03120"/>
            <a:ext cx="82296" cy="155448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4846320" cy="457200"/>
          </a:xfrm>
          <a:prstGeom prst="rect">
            <a:avLst/>
          </a:prstGeom>
          <a:noFill/>
        </p:spPr>
        <p:txBody>
          <a:bodyPr wrap="square" lIns="0" rIns="0" tIns="0" bIns="0">
            <a:spAutoFit/>
          </a:bodyPr>
          <a:lstStyle/>
          <a:p>
            <a:pPr algn="l"/>
            <a:r>
              <a:rPr sz="1600" b="1" i="0">
                <a:solidFill>
                  <a:srgbClr val="FFFFFF"/>
                </a:solidFill>
                <a:latin typeface="Calibri"/>
              </a:rPr>
              <a:t>Competition allowance removed</a:t>
            </a:r>
          </a:p>
        </p:txBody>
      </p:sp>
      <p:sp>
        <p:nvSpPr>
          <p:cNvPr id="9" name="TextBox 8"/>
          <p:cNvSpPr txBox="1"/>
          <p:nvPr/>
        </p:nvSpPr>
        <p:spPr>
          <a:xfrm>
            <a:off x="914400" y="2788920"/>
            <a:ext cx="4846320" cy="731520"/>
          </a:xfrm>
          <a:prstGeom prst="rect">
            <a:avLst/>
          </a:prstGeom>
          <a:noFill/>
        </p:spPr>
        <p:txBody>
          <a:bodyPr wrap="square" lIns="0" rIns="0" tIns="0" bIns="0">
            <a:spAutoFit/>
          </a:bodyPr>
          <a:lstStyle/>
          <a:p>
            <a:pPr algn="l"/>
            <a:r>
              <a:rPr sz="1250" b="0" i="0">
                <a:solidFill>
                  <a:srgbClr val="D9DEE7"/>
                </a:solidFill>
                <a:latin typeface="Calibri"/>
              </a:rPr>
              <a:t>A retail-margin line stripped out to ease cost-of-living pressure.</a:t>
            </a:r>
          </a:p>
        </p:txBody>
      </p:sp>
      <p:sp>
        <p:nvSpPr>
          <p:cNvPr id="10" name="Rectangle 9"/>
          <p:cNvSpPr/>
          <p:nvPr/>
        </p:nvSpPr>
        <p:spPr>
          <a:xfrm>
            <a:off x="6263640" y="2103120"/>
            <a:ext cx="5303520" cy="1554480"/>
          </a:xfrm>
          <a:prstGeom prst="rect">
            <a:avLst/>
          </a:prstGeom>
          <a:solidFill>
            <a:srgbClr val="0F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03120"/>
            <a:ext cx="82296" cy="155448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286000"/>
            <a:ext cx="4846320" cy="457200"/>
          </a:xfrm>
          <a:prstGeom prst="rect">
            <a:avLst/>
          </a:prstGeom>
          <a:noFill/>
        </p:spPr>
        <p:txBody>
          <a:bodyPr wrap="square" lIns="0" rIns="0" tIns="0" bIns="0">
            <a:spAutoFit/>
          </a:bodyPr>
          <a:lstStyle/>
          <a:p>
            <a:pPr algn="l"/>
            <a:r>
              <a:rPr sz="1600" b="1" i="0">
                <a:solidFill>
                  <a:srgbClr val="FFFFFF"/>
                </a:solidFill>
                <a:latin typeface="Calibri"/>
              </a:rPr>
              <a:t>Tariff caps introduced</a:t>
            </a:r>
          </a:p>
        </p:txBody>
      </p:sp>
      <p:sp>
        <p:nvSpPr>
          <p:cNvPr id="13" name="TextBox 12"/>
          <p:cNvSpPr txBox="1"/>
          <p:nvPr/>
        </p:nvSpPr>
        <p:spPr>
          <a:xfrm>
            <a:off x="6537960" y="2788920"/>
            <a:ext cx="4846320" cy="731520"/>
          </a:xfrm>
          <a:prstGeom prst="rect">
            <a:avLst/>
          </a:prstGeom>
          <a:noFill/>
        </p:spPr>
        <p:txBody>
          <a:bodyPr wrap="square" lIns="0" rIns="0" tIns="0" bIns="0">
            <a:spAutoFit/>
          </a:bodyPr>
          <a:lstStyle/>
          <a:p>
            <a:pPr algn="l"/>
            <a:r>
              <a:rPr sz="1250" b="0" i="0">
                <a:solidFill>
                  <a:srgbClr val="D9DEE7"/>
                </a:solidFill>
                <a:latin typeface="Calibri"/>
              </a:rPr>
              <a:t>Caps daily supply &amp; usage rates now — not just the annual bill total.</a:t>
            </a:r>
          </a:p>
        </p:txBody>
      </p:sp>
      <p:sp>
        <p:nvSpPr>
          <p:cNvPr id="14" name="Rectangle 13"/>
          <p:cNvSpPr/>
          <p:nvPr/>
        </p:nvSpPr>
        <p:spPr>
          <a:xfrm>
            <a:off x="640080" y="3931920"/>
            <a:ext cx="5303520" cy="1554480"/>
          </a:xfrm>
          <a:prstGeom prst="rect">
            <a:avLst/>
          </a:prstGeom>
          <a:solidFill>
            <a:srgbClr val="0F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931920"/>
            <a:ext cx="82296" cy="1554480"/>
          </a:xfrm>
          <a:prstGeom prst="rect">
            <a:avLst/>
          </a:prstGeom>
          <a:solidFill>
            <a:srgbClr val="5DCA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114800"/>
            <a:ext cx="4846320" cy="457200"/>
          </a:xfrm>
          <a:prstGeom prst="rect">
            <a:avLst/>
          </a:prstGeom>
          <a:noFill/>
        </p:spPr>
        <p:txBody>
          <a:bodyPr wrap="square" lIns="0" rIns="0" tIns="0" bIns="0">
            <a:spAutoFit/>
          </a:bodyPr>
          <a:lstStyle/>
          <a:p>
            <a:pPr algn="l"/>
            <a:r>
              <a:rPr sz="1600" b="1" i="0">
                <a:solidFill>
                  <a:srgbClr val="FFFFFF"/>
                </a:solidFill>
                <a:latin typeface="Calibri"/>
              </a:rPr>
              <a:t>Solar Sharer Offer</a:t>
            </a:r>
          </a:p>
        </p:txBody>
      </p:sp>
      <p:sp>
        <p:nvSpPr>
          <p:cNvPr id="17" name="TextBox 16"/>
          <p:cNvSpPr txBox="1"/>
          <p:nvPr/>
        </p:nvSpPr>
        <p:spPr>
          <a:xfrm>
            <a:off x="914400" y="4617720"/>
            <a:ext cx="4846320" cy="731520"/>
          </a:xfrm>
          <a:prstGeom prst="rect">
            <a:avLst/>
          </a:prstGeom>
          <a:noFill/>
        </p:spPr>
        <p:txBody>
          <a:bodyPr wrap="square" lIns="0" rIns="0" tIns="0" bIns="0">
            <a:spAutoFit/>
          </a:bodyPr>
          <a:lstStyle/>
          <a:p>
            <a:pPr algn="l"/>
            <a:r>
              <a:rPr sz="1250" b="0" i="0">
                <a:solidFill>
                  <a:srgbClr val="D9DEE7"/>
                </a:solidFill>
                <a:latin typeface="Calibri"/>
              </a:rPr>
              <a:t>Three hours of free midday power for smart-meter homes, renters included.</a:t>
            </a:r>
          </a:p>
        </p:txBody>
      </p:sp>
      <p:sp>
        <p:nvSpPr>
          <p:cNvPr id="18" name="Rectangle 17"/>
          <p:cNvSpPr/>
          <p:nvPr/>
        </p:nvSpPr>
        <p:spPr>
          <a:xfrm>
            <a:off x="6263640" y="3931920"/>
            <a:ext cx="5303520" cy="1554480"/>
          </a:xfrm>
          <a:prstGeom prst="rect">
            <a:avLst/>
          </a:prstGeom>
          <a:solidFill>
            <a:srgbClr val="0F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931920"/>
            <a:ext cx="82296" cy="1554480"/>
          </a:xfrm>
          <a:prstGeom prst="rect">
            <a:avLst/>
          </a:prstGeom>
          <a:solidFill>
            <a:srgbClr val="B8C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114800"/>
            <a:ext cx="4846320" cy="457200"/>
          </a:xfrm>
          <a:prstGeom prst="rect">
            <a:avLst/>
          </a:prstGeom>
          <a:noFill/>
        </p:spPr>
        <p:txBody>
          <a:bodyPr wrap="square" lIns="0" rIns="0" tIns="0" bIns="0">
            <a:spAutoFit/>
          </a:bodyPr>
          <a:lstStyle/>
          <a:p>
            <a:pPr algn="l"/>
            <a:r>
              <a:rPr sz="1600" b="1" i="0">
                <a:solidFill>
                  <a:srgbClr val="FFFFFF"/>
                </a:solidFill>
                <a:latin typeface="Calibri"/>
              </a:rPr>
              <a:t>Blended network tariffs</a:t>
            </a:r>
          </a:p>
        </p:txBody>
      </p:sp>
      <p:sp>
        <p:nvSpPr>
          <p:cNvPr id="21" name="TextBox 20"/>
          <p:cNvSpPr txBox="1"/>
          <p:nvPr/>
        </p:nvSpPr>
        <p:spPr>
          <a:xfrm>
            <a:off x="6537960" y="4617720"/>
            <a:ext cx="4846320" cy="731520"/>
          </a:xfrm>
          <a:prstGeom prst="rect">
            <a:avLst/>
          </a:prstGeom>
          <a:noFill/>
        </p:spPr>
        <p:txBody>
          <a:bodyPr wrap="square" lIns="0" rIns="0" tIns="0" bIns="0">
            <a:spAutoFit/>
          </a:bodyPr>
          <a:lstStyle/>
          <a:p>
            <a:pPr algn="l"/>
            <a:r>
              <a:rPr sz="1250" b="0" i="0">
                <a:solidFill>
                  <a:srgbClr val="D9DEE7"/>
                </a:solidFill>
                <a:latin typeface="Calibri"/>
              </a:rPr>
              <a:t>Pricing now reflects the accelerated smart-meter rollout.</a:t>
            </a:r>
          </a:p>
        </p:txBody>
      </p:sp>
      <p:sp>
        <p:nvSpPr>
          <p:cNvPr id="22" name="TextBox 21"/>
          <p:cNvSpPr txBox="1"/>
          <p:nvPr/>
        </p:nvSpPr>
        <p:spPr>
          <a:xfrm>
            <a:off x="4693615" y="6492240"/>
            <a:ext cx="7315200" cy="274320"/>
          </a:xfrm>
          <a:prstGeom prst="rect">
            <a:avLst/>
          </a:prstGeom>
          <a:noFill/>
        </p:spPr>
        <p:txBody>
          <a:bodyPr wrap="square" lIns="0" rIns="0" tIns="0" bIns="0">
            <a:spAutoFit/>
          </a:bodyPr>
          <a:lstStyle/>
          <a:p>
            <a:pPr algn="r"/>
            <a:r>
              <a:rPr sz="850" b="0" i="1">
                <a:solidFill>
                  <a:srgbClr val="B8C4DA"/>
                </a:solidFill>
                <a:latin typeface="Calibri"/>
              </a:rPr>
              <a:t>AER DMO 8 final determination, 26 May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YOUR ANALYSIS</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Add your own slide here</a:t>
            </a:r>
          </a:p>
        </p:txBody>
      </p:sp>
      <p:sp>
        <p:nvSpPr>
          <p:cNvPr id="6" name="Rectangle 5"/>
          <p:cNvSpPr/>
          <p:nvPr/>
        </p:nvSpPr>
        <p:spPr>
          <a:xfrm>
            <a:off x="640080" y="2011680"/>
            <a:ext cx="10972800" cy="365760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468880"/>
            <a:ext cx="10241280" cy="1828800"/>
          </a:xfrm>
          <a:prstGeom prst="rect">
            <a:avLst/>
          </a:prstGeom>
          <a:noFill/>
        </p:spPr>
        <p:txBody>
          <a:bodyPr wrap="square" lIns="0" rIns="0" tIns="0" bIns="0" anchor="t">
            <a:spAutoFit/>
          </a:bodyPr>
          <a:lstStyle/>
          <a:p>
            <a:pPr algn="l">
              <a:lnSpc>
                <a:spcPct val="130000"/>
              </a:lnSpc>
            </a:pPr>
            <a:r>
              <a:rPr sz="1600" b="0" i="0">
                <a:solidFill>
                  <a:srgbClr val="5B6378"/>
                </a:solidFill>
                <a:latin typeface="Calibri"/>
              </a:rPr>
              <a:t>This placeholder is the fork point. Edit add_custom_analysis() in scripts/build_report.py to drop in your own chart, forecast or client view - then delete this note.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74320"/>
          </a:xfrm>
          <a:prstGeom prst="rect">
            <a:avLst/>
          </a:prstGeom>
          <a:noFill/>
        </p:spPr>
        <p:txBody>
          <a:bodyPr wrap="square" lIns="0" rIns="0" tIns="0" bIns="0">
            <a:spAutoFit/>
          </a:bodyPr>
          <a:lstStyle/>
          <a:p>
            <a:pPr algn="l"/>
            <a:r>
              <a:rPr sz="1100" b="1" i="0">
                <a:solidFill>
                  <a:srgbClr val="00C2A8"/>
                </a:solidFill>
                <a:latin typeface="Calibri"/>
              </a:rPr>
              <a:t>RENOVARA</a:t>
            </a:r>
          </a:p>
        </p:txBody>
      </p:sp>
      <p:sp>
        <p:nvSpPr>
          <p:cNvPr id="5" name="TextBox 4"/>
          <p:cNvSpPr txBox="1"/>
          <p:nvPr/>
        </p:nvSpPr>
        <p:spPr>
          <a:xfrm>
            <a:off x="868680" y="1371600"/>
            <a:ext cx="10515600" cy="1280160"/>
          </a:xfrm>
          <a:prstGeom prst="rect">
            <a:avLst/>
          </a:prstGeom>
          <a:noFill/>
        </p:spPr>
        <p:txBody>
          <a:bodyPr wrap="square" lIns="0" rIns="0" tIns="0" bIns="0">
            <a:spAutoFit/>
          </a:bodyPr>
          <a:lstStyle/>
          <a:p>
            <a:pPr algn="l"/>
            <a:r>
              <a:rPr sz="3800" b="0" i="0">
                <a:solidFill>
                  <a:srgbClr val="FFFFFF"/>
                </a:solidFill>
                <a:latin typeface="Calibri Light"/>
              </a:rPr>
              <a:t>AI analysis and tools for the energy sector</a:t>
            </a:r>
          </a:p>
        </p:txBody>
      </p:sp>
      <p:sp>
        <p:nvSpPr>
          <p:cNvPr id="6" name="TextBox 5"/>
          <p:cNvSpPr txBox="1"/>
          <p:nvPr/>
        </p:nvSpPr>
        <p:spPr>
          <a:xfrm>
            <a:off x="886968" y="2834640"/>
            <a:ext cx="10058400" cy="640080"/>
          </a:xfrm>
          <a:prstGeom prst="rect">
            <a:avLst/>
          </a:prstGeom>
          <a:noFill/>
        </p:spPr>
        <p:txBody>
          <a:bodyPr wrap="square" lIns="0" rIns="0" tIns="0" bIns="0">
            <a:spAutoFit/>
          </a:bodyPr>
          <a:lstStyle/>
          <a:p>
            <a:pPr algn="l"/>
            <a:r>
              <a:rPr sz="1600" b="0" i="0">
                <a:solidFill>
                  <a:srgbClr val="D9DEE7"/>
                </a:solidFill>
                <a:latin typeface="Calibri"/>
              </a:rPr>
              <a:t>This entire analysis was generated from public AER determinations - and the tool that builds it is open source.</a:t>
            </a:r>
          </a:p>
        </p:txBody>
      </p:sp>
      <p:sp>
        <p:nvSpPr>
          <p:cNvPr id="7" name="Rectangle 6"/>
          <p:cNvSpPr/>
          <p:nvPr/>
        </p:nvSpPr>
        <p:spPr>
          <a:xfrm>
            <a:off x="868680" y="3611880"/>
            <a:ext cx="10424160" cy="1554480"/>
          </a:xfrm>
          <a:prstGeom prst="rect">
            <a:avLst/>
          </a:prstGeom>
          <a:solidFill>
            <a:srgbClr val="0F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3611880"/>
            <a:ext cx="82296" cy="155448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794760"/>
            <a:ext cx="9784080" cy="1234440"/>
          </a:xfrm>
          <a:prstGeom prst="rect">
            <a:avLst/>
          </a:prstGeom>
          <a:noFill/>
        </p:spPr>
        <p:txBody>
          <a:bodyPr wrap="square" lIns="0" rIns="0" tIns="0" bIns="0" anchor="ctr">
            <a:spAutoFit/>
          </a:bodyPr>
          <a:lstStyle/>
          <a:p>
            <a:pPr algn="l">
              <a:lnSpc>
                <a:spcPct val="115000"/>
              </a:lnSpc>
            </a:pPr>
            <a:r>
              <a:rPr sz="1500" b="0" i="0">
                <a:solidFill>
                  <a:srgbClr val="FFFFFF"/>
                </a:solidFill>
                <a:latin typeface="Calibri"/>
              </a:rPr>
              <a:t>Clone the open-source AER Market Agent skill, add it to your AI platform (tested on Anthropic's Claude), point it at the latest AER data, customise the skill to your requirements and regenerate this deck in minutes. Ask natural language questions and the skill will analyse.</a:t>
            </a:r>
          </a:p>
        </p:txBody>
      </p:sp>
      <p:sp>
        <p:nvSpPr>
          <p:cNvPr id="10" name="TextBox 9"/>
          <p:cNvSpPr txBox="1"/>
          <p:nvPr/>
        </p:nvSpPr>
        <p:spPr>
          <a:xfrm>
            <a:off x="886968" y="5440680"/>
            <a:ext cx="5486400" cy="365760"/>
          </a:xfrm>
          <a:prstGeom prst="rect">
            <a:avLst/>
          </a:prstGeom>
          <a:noFill/>
        </p:spPr>
        <p:txBody>
          <a:bodyPr wrap="square" lIns="0" rIns="0" tIns="0" bIns="0">
            <a:spAutoFit/>
          </a:bodyPr>
          <a:lstStyle/>
          <a:p>
            <a:pPr algn="l"/>
            <a:r>
              <a:rPr sz="1400" b="1" i="0">
                <a:solidFill>
                  <a:srgbClr val="00C2A8"/>
                </a:solidFill>
                <a:latin typeface="Calibri"/>
              </a:rPr>
              <a:t>renovara.co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058400" cy="274320"/>
          </a:xfrm>
          <a:prstGeom prst="rect">
            <a:avLst/>
          </a:prstGeom>
          <a:noFill/>
        </p:spPr>
        <p:txBody>
          <a:bodyPr wrap="square" lIns="0" rIns="0" tIns="0" bIns="0">
            <a:spAutoFit/>
          </a:bodyPr>
          <a:lstStyle/>
          <a:p>
            <a:pPr algn="l"/>
            <a:r>
              <a:rPr sz="1100" b="1" i="0">
                <a:solidFill>
                  <a:srgbClr val="008C7A"/>
                </a:solidFill>
                <a:latin typeface="Calibri"/>
              </a:rPr>
              <a:t>METHOD &amp; SOURCES</a:t>
            </a:r>
          </a:p>
        </p:txBody>
      </p:sp>
      <p:sp>
        <p:nvSpPr>
          <p:cNvPr id="5" name="TextBox 4"/>
          <p:cNvSpPr txBox="1"/>
          <p:nvPr/>
        </p:nvSpPr>
        <p:spPr>
          <a:xfrm>
            <a:off x="640080" y="777240"/>
            <a:ext cx="10972800" cy="731520"/>
          </a:xfrm>
          <a:prstGeom prst="rect">
            <a:avLst/>
          </a:prstGeom>
          <a:noFill/>
        </p:spPr>
        <p:txBody>
          <a:bodyPr wrap="square" lIns="0" rIns="0" tIns="0" bIns="0">
            <a:spAutoFit/>
          </a:bodyPr>
          <a:lstStyle/>
          <a:p>
            <a:pPr algn="l"/>
            <a:r>
              <a:rPr sz="3200" b="1" i="0">
                <a:solidFill>
                  <a:srgbClr val="0A1F44"/>
                </a:solidFill>
                <a:latin typeface="Calibri"/>
              </a:rPr>
              <a:t>How we built this</a:t>
            </a:r>
          </a:p>
        </p:txBody>
      </p:sp>
      <p:sp>
        <p:nvSpPr>
          <p:cNvPr id="6" name="TextBox 5"/>
          <p:cNvSpPr txBox="1"/>
          <p:nvPr/>
        </p:nvSpPr>
        <p:spPr>
          <a:xfrm>
            <a:off x="640080" y="1783080"/>
            <a:ext cx="2103120" cy="457200"/>
          </a:xfrm>
          <a:prstGeom prst="rect">
            <a:avLst/>
          </a:prstGeom>
          <a:noFill/>
        </p:spPr>
        <p:txBody>
          <a:bodyPr wrap="square" lIns="0" rIns="0" tIns="0" bIns="0">
            <a:spAutoFit/>
          </a:bodyPr>
          <a:lstStyle/>
          <a:p>
            <a:pPr algn="l"/>
            <a:r>
              <a:rPr sz="1200" b="1" i="0">
                <a:solidFill>
                  <a:srgbClr val="008C7A"/>
                </a:solidFill>
                <a:latin typeface="Calibri"/>
              </a:rPr>
              <a:t>Data</a:t>
            </a:r>
          </a:p>
        </p:txBody>
      </p:sp>
      <p:sp>
        <p:nvSpPr>
          <p:cNvPr id="7" name="TextBox 6"/>
          <p:cNvSpPr txBox="1"/>
          <p:nvPr/>
        </p:nvSpPr>
        <p:spPr>
          <a:xfrm>
            <a:off x="2834640" y="1783080"/>
            <a:ext cx="4572000" cy="548640"/>
          </a:xfrm>
          <a:prstGeom prst="rect">
            <a:avLst/>
          </a:prstGeom>
          <a:noFill/>
        </p:spPr>
        <p:txBody>
          <a:bodyPr wrap="square" lIns="0" rIns="0" tIns="0" bIns="0">
            <a:spAutoFit/>
          </a:bodyPr>
          <a:lstStyle/>
          <a:p>
            <a:pPr algn="l">
              <a:lnSpc>
                <a:spcPct val="105000"/>
              </a:lnSpc>
            </a:pPr>
            <a:r>
              <a:rPr sz="1100" b="0" i="0">
                <a:solidFill>
                  <a:srgbClr val="0A1F44"/>
                </a:solidFill>
                <a:latin typeface="Calibri"/>
              </a:rPr>
              <a:t>AER final determinations, DMO 1 (2019-20) to DMO 8 (2026-27).</a:t>
            </a:r>
          </a:p>
        </p:txBody>
      </p:sp>
      <p:sp>
        <p:nvSpPr>
          <p:cNvPr id="8" name="TextBox 7"/>
          <p:cNvSpPr txBox="1"/>
          <p:nvPr/>
        </p:nvSpPr>
        <p:spPr>
          <a:xfrm>
            <a:off x="640080" y="2423160"/>
            <a:ext cx="2103120" cy="457200"/>
          </a:xfrm>
          <a:prstGeom prst="rect">
            <a:avLst/>
          </a:prstGeom>
          <a:noFill/>
        </p:spPr>
        <p:txBody>
          <a:bodyPr wrap="square" lIns="0" rIns="0" tIns="0" bIns="0">
            <a:spAutoFit/>
          </a:bodyPr>
          <a:lstStyle/>
          <a:p>
            <a:pPr algn="l"/>
            <a:r>
              <a:rPr sz="1200" b="1" i="0">
                <a:solidFill>
                  <a:srgbClr val="008C7A"/>
                </a:solidFill>
                <a:latin typeface="Calibri"/>
              </a:rPr>
              <a:t>Headline series</a:t>
            </a:r>
          </a:p>
        </p:txBody>
      </p:sp>
      <p:sp>
        <p:nvSpPr>
          <p:cNvPr id="9" name="TextBox 8"/>
          <p:cNvSpPr txBox="1"/>
          <p:nvPr/>
        </p:nvSpPr>
        <p:spPr>
          <a:xfrm>
            <a:off x="2834640" y="2423160"/>
            <a:ext cx="4572000" cy="548640"/>
          </a:xfrm>
          <a:prstGeom prst="rect">
            <a:avLst/>
          </a:prstGeom>
          <a:noFill/>
        </p:spPr>
        <p:txBody>
          <a:bodyPr wrap="square" lIns="0" rIns="0" tIns="0" bIns="0">
            <a:spAutoFit/>
          </a:bodyPr>
          <a:lstStyle/>
          <a:p>
            <a:pPr algn="l">
              <a:lnSpc>
                <a:spcPct val="105000"/>
              </a:lnSpc>
            </a:pPr>
            <a:r>
              <a:rPr sz="1100" b="0" i="0">
                <a:solidFill>
                  <a:srgbClr val="0A1F44"/>
                </a:solidFill>
                <a:latin typeface="Calibri"/>
              </a:rPr>
              <a:t>Residential flat rate, no controlled load - comparable across all years.</a:t>
            </a:r>
          </a:p>
        </p:txBody>
      </p:sp>
      <p:sp>
        <p:nvSpPr>
          <p:cNvPr id="10" name="TextBox 9"/>
          <p:cNvSpPr txBox="1"/>
          <p:nvPr/>
        </p:nvSpPr>
        <p:spPr>
          <a:xfrm>
            <a:off x="640080" y="3063239"/>
            <a:ext cx="2103120" cy="457200"/>
          </a:xfrm>
          <a:prstGeom prst="rect">
            <a:avLst/>
          </a:prstGeom>
          <a:noFill/>
        </p:spPr>
        <p:txBody>
          <a:bodyPr wrap="square" lIns="0" rIns="0" tIns="0" bIns="0">
            <a:spAutoFit/>
          </a:bodyPr>
          <a:lstStyle/>
          <a:p>
            <a:pPr algn="l"/>
            <a:r>
              <a:rPr sz="1200" b="1" i="0">
                <a:solidFill>
                  <a:srgbClr val="008C7A"/>
                </a:solidFill>
                <a:latin typeface="Calibri"/>
              </a:rPr>
              <a:t>Cost stack</a:t>
            </a:r>
          </a:p>
        </p:txBody>
      </p:sp>
      <p:sp>
        <p:nvSpPr>
          <p:cNvPr id="11" name="TextBox 10"/>
          <p:cNvSpPr txBox="1"/>
          <p:nvPr/>
        </p:nvSpPr>
        <p:spPr>
          <a:xfrm>
            <a:off x="2834640" y="3063239"/>
            <a:ext cx="4572000" cy="548640"/>
          </a:xfrm>
          <a:prstGeom prst="rect">
            <a:avLst/>
          </a:prstGeom>
          <a:noFill/>
        </p:spPr>
        <p:txBody>
          <a:bodyPr wrap="square" lIns="0" rIns="0" tIns="0" bIns="0">
            <a:spAutoFit/>
          </a:bodyPr>
          <a:lstStyle/>
          <a:p>
            <a:pPr algn="l">
              <a:lnSpc>
                <a:spcPct val="105000"/>
              </a:lnSpc>
            </a:pPr>
            <a:r>
              <a:rPr sz="1100" b="0" i="0">
                <a:solidFill>
                  <a:srgbClr val="0A1F44"/>
                </a:solidFill>
                <a:latin typeface="Calibri"/>
              </a:rPr>
              <a:t>Wholesale &amp; environmental from AER cost data; network/retail split per AER proportions.</a:t>
            </a:r>
          </a:p>
        </p:txBody>
      </p:sp>
      <p:sp>
        <p:nvSpPr>
          <p:cNvPr id="12" name="TextBox 11"/>
          <p:cNvSpPr txBox="1"/>
          <p:nvPr/>
        </p:nvSpPr>
        <p:spPr>
          <a:xfrm>
            <a:off x="640080" y="3703320"/>
            <a:ext cx="2103120" cy="457200"/>
          </a:xfrm>
          <a:prstGeom prst="rect">
            <a:avLst/>
          </a:prstGeom>
          <a:noFill/>
        </p:spPr>
        <p:txBody>
          <a:bodyPr wrap="square" lIns="0" rIns="0" tIns="0" bIns="0">
            <a:spAutoFit/>
          </a:bodyPr>
          <a:lstStyle/>
          <a:p>
            <a:pPr algn="l"/>
            <a:r>
              <a:rPr sz="1200" b="1" i="0">
                <a:solidFill>
                  <a:srgbClr val="008C7A"/>
                </a:solidFill>
                <a:latin typeface="Calibri"/>
              </a:rPr>
              <a:t>Network</a:t>
            </a:r>
          </a:p>
        </p:txBody>
      </p:sp>
      <p:sp>
        <p:nvSpPr>
          <p:cNvPr id="13" name="TextBox 12"/>
          <p:cNvSpPr txBox="1"/>
          <p:nvPr/>
        </p:nvSpPr>
        <p:spPr>
          <a:xfrm>
            <a:off x="2834640" y="3703320"/>
            <a:ext cx="4572000" cy="548640"/>
          </a:xfrm>
          <a:prstGeom prst="rect">
            <a:avLst/>
          </a:prstGeom>
          <a:noFill/>
        </p:spPr>
        <p:txBody>
          <a:bodyPr wrap="square" lIns="0" rIns="0" tIns="0" bIns="0">
            <a:spAutoFit/>
          </a:bodyPr>
          <a:lstStyle/>
          <a:p>
            <a:pPr algn="l">
              <a:lnSpc>
                <a:spcPct val="105000"/>
              </a:lnSpc>
            </a:pPr>
            <a:r>
              <a:rPr sz="1100" b="0" i="0">
                <a:solidFill>
                  <a:srgbClr val="0A1F44"/>
                </a:solidFill>
                <a:latin typeface="Calibri"/>
              </a:rPr>
              <a:t>AER network revenue determinations; AER State of the Energy Market (revenue, asset base, capex, utilisation, tariffs); AEMO 2024 system plan; AER demand &amp; energy charts.</a:t>
            </a:r>
          </a:p>
        </p:txBody>
      </p:sp>
      <p:sp>
        <p:nvSpPr>
          <p:cNvPr id="14" name="TextBox 13"/>
          <p:cNvSpPr txBox="1"/>
          <p:nvPr/>
        </p:nvSpPr>
        <p:spPr>
          <a:xfrm>
            <a:off x="640080" y="4343400"/>
            <a:ext cx="2103120" cy="457200"/>
          </a:xfrm>
          <a:prstGeom prst="rect">
            <a:avLst/>
          </a:prstGeom>
          <a:noFill/>
        </p:spPr>
        <p:txBody>
          <a:bodyPr wrap="square" lIns="0" rIns="0" tIns="0" bIns="0">
            <a:spAutoFit/>
          </a:bodyPr>
          <a:lstStyle/>
          <a:p>
            <a:pPr algn="l"/>
            <a:r>
              <a:rPr sz="1200" b="1" i="0">
                <a:solidFill>
                  <a:srgbClr val="008C7A"/>
                </a:solidFill>
                <a:latin typeface="Calibri"/>
              </a:rPr>
              <a:t>Inflation</a:t>
            </a:r>
          </a:p>
        </p:txBody>
      </p:sp>
      <p:sp>
        <p:nvSpPr>
          <p:cNvPr id="15" name="TextBox 14"/>
          <p:cNvSpPr txBox="1"/>
          <p:nvPr/>
        </p:nvSpPr>
        <p:spPr>
          <a:xfrm>
            <a:off x="2834640" y="4343400"/>
            <a:ext cx="4572000" cy="548640"/>
          </a:xfrm>
          <a:prstGeom prst="rect">
            <a:avLst/>
          </a:prstGeom>
          <a:noFill/>
        </p:spPr>
        <p:txBody>
          <a:bodyPr wrap="square" lIns="0" rIns="0" tIns="0" bIns="0">
            <a:spAutoFit/>
          </a:bodyPr>
          <a:lstStyle/>
          <a:p>
            <a:pPr algn="l">
              <a:lnSpc>
                <a:spcPct val="105000"/>
              </a:lnSpc>
            </a:pPr>
            <a:r>
              <a:rPr sz="1100" b="0" i="0">
                <a:solidFill>
                  <a:srgbClr val="0A1F44"/>
                </a:solidFill>
                <a:latin typeface="Calibri"/>
              </a:rPr>
              <a:t>Real terms use ABS CPI (8 capitals, June quarter); 2026-27 estimated.</a:t>
            </a:r>
          </a:p>
        </p:txBody>
      </p:sp>
      <p:sp>
        <p:nvSpPr>
          <p:cNvPr id="16" name="TextBox 15"/>
          <p:cNvSpPr txBox="1"/>
          <p:nvPr/>
        </p:nvSpPr>
        <p:spPr>
          <a:xfrm>
            <a:off x="640080" y="4983480"/>
            <a:ext cx="2103120" cy="457200"/>
          </a:xfrm>
          <a:prstGeom prst="rect">
            <a:avLst/>
          </a:prstGeom>
          <a:noFill/>
        </p:spPr>
        <p:txBody>
          <a:bodyPr wrap="square" lIns="0" rIns="0" tIns="0" bIns="0">
            <a:spAutoFit/>
          </a:bodyPr>
          <a:lstStyle/>
          <a:p>
            <a:pPr algn="l"/>
            <a:r>
              <a:rPr sz="1200" b="1" i="0">
                <a:solidFill>
                  <a:srgbClr val="008C7A"/>
                </a:solidFill>
                <a:latin typeface="Calibri"/>
              </a:rPr>
              <a:t>Caveat</a:t>
            </a:r>
          </a:p>
        </p:txBody>
      </p:sp>
      <p:sp>
        <p:nvSpPr>
          <p:cNvPr id="17" name="TextBox 16"/>
          <p:cNvSpPr txBox="1"/>
          <p:nvPr/>
        </p:nvSpPr>
        <p:spPr>
          <a:xfrm>
            <a:off x="2834640" y="4983480"/>
            <a:ext cx="4572000" cy="548640"/>
          </a:xfrm>
          <a:prstGeom prst="rect">
            <a:avLst/>
          </a:prstGeom>
          <a:noFill/>
        </p:spPr>
        <p:txBody>
          <a:bodyPr wrap="square" lIns="0" rIns="0" tIns="0" bIns="0">
            <a:spAutoFit/>
          </a:bodyPr>
          <a:lstStyle/>
          <a:p>
            <a:pPr algn="l">
              <a:lnSpc>
                <a:spcPct val="105000"/>
              </a:lnSpc>
            </a:pPr>
            <a:r>
              <a:rPr sz="1100" b="0" i="0">
                <a:solidFill>
                  <a:srgbClr val="0A1F44"/>
                </a:solidFill>
                <a:latin typeface="Calibri"/>
              </a:rPr>
              <a:t>Small-business benchmark changed 20,000 to 10,000 kWh at DMO 4 - not comparable across it.</a:t>
            </a:r>
          </a:p>
        </p:txBody>
      </p:sp>
      <p:sp>
        <p:nvSpPr>
          <p:cNvPr id="18" name="TextBox 17"/>
          <p:cNvSpPr txBox="1"/>
          <p:nvPr/>
        </p:nvSpPr>
        <p:spPr>
          <a:xfrm>
            <a:off x="8046720" y="1737360"/>
            <a:ext cx="3657600" cy="274320"/>
          </a:xfrm>
          <a:prstGeom prst="rect">
            <a:avLst/>
          </a:prstGeom>
          <a:noFill/>
        </p:spPr>
        <p:txBody>
          <a:bodyPr wrap="square" lIns="0" rIns="0" tIns="0" bIns="0">
            <a:spAutoFit/>
          </a:bodyPr>
          <a:lstStyle/>
          <a:p>
            <a:pPr algn="l"/>
            <a:r>
              <a:rPr sz="1400" b="1" i="0">
                <a:solidFill>
                  <a:srgbClr val="0A1F44"/>
                </a:solidFill>
                <a:latin typeface="Calibri"/>
              </a:rPr>
              <a:t>Open the sources</a:t>
            </a:r>
          </a:p>
        </p:txBody>
      </p:sp>
      <p:sp>
        <p:nvSpPr>
          <p:cNvPr id="19" name="TextBox 18"/>
          <p:cNvSpPr txBox="1"/>
          <p:nvPr/>
        </p:nvSpPr>
        <p:spPr>
          <a:xfrm>
            <a:off x="8046720" y="2148840"/>
            <a:ext cx="3931920" cy="411480"/>
          </a:xfrm>
          <a:prstGeom prst="rect">
            <a:avLst/>
          </a:prstGeom>
          <a:noFill/>
        </p:spPr>
        <p:txBody>
          <a:bodyPr wrap="square" lIns="0" rIns="0" tIns="0" bIns="0" anchor="ctr">
            <a:spAutoFit/>
          </a:bodyPr>
          <a:lstStyle/>
          <a:p>
            <a:pPr algn="l"/>
            <a:r>
              <a:rPr sz="1100" b="0" i="0">
                <a:solidFill>
                  <a:srgbClr val="008C7A"/>
                </a:solidFill>
                <a:latin typeface="Calibri"/>
                <a:hlinkClick r:id="rId2"/>
              </a:rPr>
              <a:t>AER — Default Market Offer 2026-27</a:t>
            </a:r>
          </a:p>
        </p:txBody>
      </p:sp>
      <p:sp>
        <p:nvSpPr>
          <p:cNvPr id="20" name="TextBox 19"/>
          <p:cNvSpPr txBox="1"/>
          <p:nvPr/>
        </p:nvSpPr>
        <p:spPr>
          <a:xfrm>
            <a:off x="8046720" y="2660904"/>
            <a:ext cx="3931920" cy="411480"/>
          </a:xfrm>
          <a:prstGeom prst="rect">
            <a:avLst/>
          </a:prstGeom>
          <a:noFill/>
        </p:spPr>
        <p:txBody>
          <a:bodyPr wrap="square" lIns="0" rIns="0" tIns="0" bIns="0" anchor="ctr">
            <a:spAutoFit/>
          </a:bodyPr>
          <a:lstStyle/>
          <a:p>
            <a:pPr algn="l"/>
            <a:r>
              <a:rPr sz="1100" b="0" i="0">
                <a:solidFill>
                  <a:srgbClr val="008C7A"/>
                </a:solidFill>
                <a:latin typeface="Calibri"/>
                <a:hlinkClick r:id="rId3"/>
              </a:rPr>
              <a:t>AER — network revenue determinations</a:t>
            </a:r>
          </a:p>
        </p:txBody>
      </p:sp>
      <p:sp>
        <p:nvSpPr>
          <p:cNvPr id="21" name="TextBox 20"/>
          <p:cNvSpPr txBox="1"/>
          <p:nvPr/>
        </p:nvSpPr>
        <p:spPr>
          <a:xfrm>
            <a:off x="8046720" y="3172968"/>
            <a:ext cx="3931920" cy="411480"/>
          </a:xfrm>
          <a:prstGeom prst="rect">
            <a:avLst/>
          </a:prstGeom>
          <a:noFill/>
        </p:spPr>
        <p:txBody>
          <a:bodyPr wrap="square" lIns="0" rIns="0" tIns="0" bIns="0" anchor="ctr">
            <a:spAutoFit/>
          </a:bodyPr>
          <a:lstStyle/>
          <a:p>
            <a:pPr algn="l"/>
            <a:r>
              <a:rPr sz="1100" b="0" i="0">
                <a:solidFill>
                  <a:srgbClr val="008C7A"/>
                </a:solidFill>
                <a:latin typeface="Calibri"/>
                <a:hlinkClick r:id="rId4"/>
              </a:rPr>
              <a:t>AER — SA Power Networks 2025-30 decision</a:t>
            </a:r>
          </a:p>
        </p:txBody>
      </p:sp>
      <p:sp>
        <p:nvSpPr>
          <p:cNvPr id="22" name="TextBox 21"/>
          <p:cNvSpPr txBox="1"/>
          <p:nvPr/>
        </p:nvSpPr>
        <p:spPr>
          <a:xfrm>
            <a:off x="8046720" y="3685032"/>
            <a:ext cx="3931920" cy="411480"/>
          </a:xfrm>
          <a:prstGeom prst="rect">
            <a:avLst/>
          </a:prstGeom>
          <a:noFill/>
        </p:spPr>
        <p:txBody>
          <a:bodyPr wrap="square" lIns="0" rIns="0" tIns="0" bIns="0" anchor="ctr">
            <a:spAutoFit/>
          </a:bodyPr>
          <a:lstStyle/>
          <a:p>
            <a:pPr algn="l"/>
            <a:r>
              <a:rPr sz="1100" b="0" i="0">
                <a:solidFill>
                  <a:srgbClr val="008C7A"/>
                </a:solidFill>
                <a:latin typeface="Calibri"/>
                <a:hlinkClick r:id="rId5"/>
              </a:rPr>
              <a:t>AEMO — 2024 Integrated System Plan</a:t>
            </a:r>
          </a:p>
        </p:txBody>
      </p:sp>
      <p:sp>
        <p:nvSpPr>
          <p:cNvPr id="23" name="TextBox 22"/>
          <p:cNvSpPr txBox="1"/>
          <p:nvPr/>
        </p:nvSpPr>
        <p:spPr>
          <a:xfrm>
            <a:off x="8046720" y="4197096"/>
            <a:ext cx="3931920" cy="411480"/>
          </a:xfrm>
          <a:prstGeom prst="rect">
            <a:avLst/>
          </a:prstGeom>
          <a:noFill/>
        </p:spPr>
        <p:txBody>
          <a:bodyPr wrap="square" lIns="0" rIns="0" tIns="0" bIns="0" anchor="ctr">
            <a:spAutoFit/>
          </a:bodyPr>
          <a:lstStyle/>
          <a:p>
            <a:pPr algn="l"/>
            <a:r>
              <a:rPr sz="1100" b="0" i="0">
                <a:solidFill>
                  <a:srgbClr val="008C7A"/>
                </a:solidFill>
                <a:latin typeface="Calibri"/>
                <a:hlinkClick r:id="rId6"/>
              </a:rPr>
              <a:t>AER — demand &amp; energy charts</a:t>
            </a:r>
          </a:p>
        </p:txBody>
      </p:sp>
      <p:sp>
        <p:nvSpPr>
          <p:cNvPr id="24" name="TextBox 23"/>
          <p:cNvSpPr txBox="1"/>
          <p:nvPr/>
        </p:nvSpPr>
        <p:spPr>
          <a:xfrm>
            <a:off x="8046720" y="4709160"/>
            <a:ext cx="3931920" cy="411480"/>
          </a:xfrm>
          <a:prstGeom prst="rect">
            <a:avLst/>
          </a:prstGeom>
          <a:noFill/>
        </p:spPr>
        <p:txBody>
          <a:bodyPr wrap="square" lIns="0" rIns="0" tIns="0" bIns="0" anchor="ctr">
            <a:spAutoFit/>
          </a:bodyPr>
          <a:lstStyle/>
          <a:p>
            <a:pPr algn="l"/>
            <a:r>
              <a:rPr sz="1100" b="0" i="0">
                <a:solidFill>
                  <a:srgbClr val="008C7A"/>
                </a:solidFill>
                <a:latin typeface="Calibri"/>
                <a:hlinkClick r:id="rId7"/>
              </a:rPr>
              <a:t>ABS CPI (via the ATO table)</a:t>
            </a:r>
          </a:p>
        </p:txBody>
      </p:sp>
      <p:sp>
        <p:nvSpPr>
          <p:cNvPr id="25" name="TextBox 24"/>
          <p:cNvSpPr txBox="1"/>
          <p:nvPr/>
        </p:nvSpPr>
        <p:spPr>
          <a:xfrm>
            <a:off x="8046720" y="5221224"/>
            <a:ext cx="3931920" cy="411480"/>
          </a:xfrm>
          <a:prstGeom prst="rect">
            <a:avLst/>
          </a:prstGeom>
          <a:noFill/>
        </p:spPr>
        <p:txBody>
          <a:bodyPr wrap="square" lIns="0" rIns="0" tIns="0" bIns="0" anchor="ctr">
            <a:spAutoFit/>
          </a:bodyPr>
          <a:lstStyle/>
          <a:p>
            <a:pPr algn="l"/>
            <a:r>
              <a:rPr sz="1100" b="0" i="0">
                <a:solidFill>
                  <a:srgbClr val="008C7A"/>
                </a:solidFill>
                <a:latin typeface="Calibri"/>
                <a:hlinkClick r:id="rId8"/>
              </a:rPr>
              <a:t>AER — State of the Energy Market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